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706" r:id="rId5"/>
    <p:sldMasterId id="2147483736" r:id="rId6"/>
  </p:sldMasterIdLst>
  <p:notesMasterIdLst>
    <p:notesMasterId r:id="rId21"/>
  </p:notesMasterIdLst>
  <p:handoutMasterIdLst>
    <p:handoutMasterId r:id="rId22"/>
  </p:handoutMasterIdLst>
  <p:sldIdLst>
    <p:sldId id="284" r:id="rId7"/>
    <p:sldId id="289" r:id="rId8"/>
    <p:sldId id="291" r:id="rId9"/>
    <p:sldId id="292" r:id="rId10"/>
    <p:sldId id="293" r:id="rId11"/>
    <p:sldId id="295" r:id="rId12"/>
    <p:sldId id="275" r:id="rId13"/>
    <p:sldId id="297" r:id="rId14"/>
    <p:sldId id="298" r:id="rId15"/>
    <p:sldId id="299" r:id="rId16"/>
    <p:sldId id="277" r:id="rId17"/>
    <p:sldId id="302" r:id="rId18"/>
    <p:sldId id="303" r:id="rId19"/>
    <p:sldId id="286"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E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2143" autoAdjust="0"/>
    <p:restoredTop sz="71373" autoAdjust="0"/>
  </p:normalViewPr>
  <p:slideViewPr>
    <p:cSldViewPr snapToGrid="0" snapToObjects="1">
      <p:cViewPr varScale="1">
        <p:scale>
          <a:sx n="115" d="100"/>
          <a:sy n="115" d="100"/>
        </p:scale>
        <p:origin x="852" y="102"/>
      </p:cViewPr>
      <p:guideLst/>
    </p:cSldViewPr>
  </p:slideViewPr>
  <p:notesTextViewPr>
    <p:cViewPr>
      <p:scale>
        <a:sx n="1" d="1"/>
        <a:sy n="1" d="1"/>
      </p:scale>
      <p:origin x="0" y="0"/>
    </p:cViewPr>
  </p:notesTextViewPr>
  <p:notesViewPr>
    <p:cSldViewPr snapToGrid="0" snapToObjects="1">
      <p:cViewPr varScale="1">
        <p:scale>
          <a:sx n="155" d="100"/>
          <a:sy n="155" d="100"/>
        </p:scale>
        <p:origin x="471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1600156-24C1-1C48-AFE7-3D5ED8D3F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rial" panose="020B0604020202020204" pitchFamily="34" charset="0"/>
            </a:endParaRPr>
          </a:p>
        </p:txBody>
      </p:sp>
      <p:sp>
        <p:nvSpPr>
          <p:cNvPr id="3" name="Date Placeholder 2">
            <a:extLst>
              <a:ext uri="{FF2B5EF4-FFF2-40B4-BE49-F238E27FC236}">
                <a16:creationId xmlns:a16="http://schemas.microsoft.com/office/drawing/2014/main" id="{F1CE543B-699E-A349-9B36-85C75DBC5DC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4E6B1BB-9DE0-5A40-A206-F5EC6EC11A56}" type="datetimeFigureOut">
              <a:rPr lang="en-US" smtClean="0">
                <a:latin typeface="Arial" panose="020B0604020202020204" pitchFamily="34" charset="0"/>
              </a:rPr>
              <a:t>3/11/2026</a:t>
            </a:fld>
            <a:endParaRPr lang="en-US" dirty="0">
              <a:latin typeface="Arial" panose="020B0604020202020204" pitchFamily="34" charset="0"/>
            </a:endParaRPr>
          </a:p>
        </p:txBody>
      </p:sp>
      <p:sp>
        <p:nvSpPr>
          <p:cNvPr id="4" name="Footer Placeholder 3">
            <a:extLst>
              <a:ext uri="{FF2B5EF4-FFF2-40B4-BE49-F238E27FC236}">
                <a16:creationId xmlns:a16="http://schemas.microsoft.com/office/drawing/2014/main" id="{CD457FBA-4E57-164A-A8E5-9BE854338A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rial" panose="020B0604020202020204" pitchFamily="34" charset="0"/>
            </a:endParaRPr>
          </a:p>
        </p:txBody>
      </p:sp>
      <p:sp>
        <p:nvSpPr>
          <p:cNvPr id="5" name="Slide Number Placeholder 4">
            <a:extLst>
              <a:ext uri="{FF2B5EF4-FFF2-40B4-BE49-F238E27FC236}">
                <a16:creationId xmlns:a16="http://schemas.microsoft.com/office/drawing/2014/main" id="{B6113F37-FFDF-C440-BEAA-B93AFDC880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62E368B-55CC-5943-8947-4614B4271B0C}"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6898576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FA46A7DE-C5E7-C844-BFF3-98F77156BF21}" type="datetimeFigureOut">
              <a:rPr lang="en-US" smtClean="0"/>
              <a:pPr/>
              <a:t>3/11/2026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6462BB34-3D0A-3D43-8B90-0FD7FEF12336}" type="slidenum">
              <a:rPr lang="en-US" smtClean="0"/>
              <a:pPr/>
              <a:t>‹#›</a:t>
            </a:fld>
            <a:endParaRPr lang="en-US" dirty="0"/>
          </a:p>
        </p:txBody>
      </p:sp>
    </p:spTree>
    <p:extLst>
      <p:ext uri="{BB962C8B-B14F-4D97-AF65-F5344CB8AC3E}">
        <p14:creationId xmlns:p14="http://schemas.microsoft.com/office/powerpoint/2010/main" val="76914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current system has evolved incrementally over many years to support highly specific business rules, exceptions, and workforce authorisations. It was developed by multiple contributors with varying skill sets and limited adherence to consistent design or development standards.</a:t>
            </a:r>
          </a:p>
          <a:p>
            <a:endParaRPr lang="en-AU" dirty="0"/>
          </a:p>
          <a:p>
            <a:r>
              <a:rPr lang="en-AU" dirty="0"/>
              <a:t>While the system met operational needs at the time, this evolution has resulted in an over-engineered platform with structural design weaknesses. As a consequence, it is increasingly complex, costly to maintain, and difficult to support.</a:t>
            </a:r>
          </a:p>
          <a:p>
            <a:endParaRPr lang="en-AU" dirty="0"/>
          </a:p>
          <a:p>
            <a:r>
              <a:rPr lang="en-AU" dirty="0"/>
              <a:t>It is important to note that the development effort estimates submitted in the APP are based on detailed analysis used to quantify the number of API calls required to update the database. This represents the first time BSQ has been able to accurately measure the true scope of development effort. The estimate was deliberately uplifted to account for the potential replication of existing system nuances, which require explicit consideration as to whether they should be retained. This consideration is addressed in this presentation.</a:t>
            </a:r>
          </a:p>
          <a:p>
            <a:endParaRPr lang="en-AU" dirty="0"/>
          </a:p>
        </p:txBody>
      </p:sp>
      <p:sp>
        <p:nvSpPr>
          <p:cNvPr id="4" name="Slide Number Placeholder 3"/>
          <p:cNvSpPr>
            <a:spLocks noGrp="1"/>
          </p:cNvSpPr>
          <p:nvPr>
            <p:ph type="sldNum" sz="quarter" idx="5"/>
          </p:nvPr>
        </p:nvSpPr>
        <p:spPr/>
        <p:txBody>
          <a:bodyPr/>
          <a:lstStyle/>
          <a:p>
            <a:fld id="{6462BB34-3D0A-3D43-8B90-0FD7FEF12336}" type="slidenum">
              <a:rPr lang="en-US" smtClean="0"/>
              <a:pPr/>
              <a:t>0</a:t>
            </a:fld>
            <a:endParaRPr lang="en-US" dirty="0"/>
          </a:p>
        </p:txBody>
      </p:sp>
    </p:spTree>
    <p:extLst>
      <p:ext uri="{BB962C8B-B14F-4D97-AF65-F5344CB8AC3E}">
        <p14:creationId xmlns:p14="http://schemas.microsoft.com/office/powerpoint/2010/main" val="1749911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organisation is already operating with increasing levels of risk, and what is decided with either deliberately reduce that risk over time  or permanently embed it into the next iteration of the system.</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Importantly, this decision cannot be partial. A mixed or selective approach undermines governance, increases inconsistency, and reintroduces the very risks we are trying to mitigate.</a:t>
            </a:r>
          </a:p>
          <a:p>
            <a:endParaRPr lang="en-GB" dirty="0"/>
          </a:p>
        </p:txBody>
      </p:sp>
      <p:sp>
        <p:nvSpPr>
          <p:cNvPr id="4" name="Slide Number Placeholder 3"/>
          <p:cNvSpPr>
            <a:spLocks noGrp="1"/>
          </p:cNvSpPr>
          <p:nvPr>
            <p:ph type="sldNum" sz="quarter" idx="5"/>
          </p:nvPr>
        </p:nvSpPr>
        <p:spPr/>
        <p:txBody>
          <a:bodyPr/>
          <a:lstStyle/>
          <a:p>
            <a:fld id="{6462BB34-3D0A-3D43-8B90-0FD7FEF12336}" type="slidenum">
              <a:rPr lang="en-US" smtClean="0"/>
              <a:pPr/>
              <a:t>1</a:t>
            </a:fld>
            <a:endParaRPr lang="en-US" dirty="0"/>
          </a:p>
        </p:txBody>
      </p:sp>
    </p:spTree>
    <p:extLst>
      <p:ext uri="{BB962C8B-B14F-4D97-AF65-F5344CB8AC3E}">
        <p14:creationId xmlns:p14="http://schemas.microsoft.com/office/powerpoint/2010/main" val="69738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 will provide just two basic examples of these challenges to help explain why a more pragmatic solution is required</a:t>
            </a:r>
          </a:p>
          <a:p>
            <a:endParaRPr lang="en-GB" dirty="0"/>
          </a:p>
        </p:txBody>
      </p:sp>
      <p:sp>
        <p:nvSpPr>
          <p:cNvPr id="4" name="Slide Number Placeholder 3"/>
          <p:cNvSpPr>
            <a:spLocks noGrp="1"/>
          </p:cNvSpPr>
          <p:nvPr>
            <p:ph type="sldNum" sz="quarter" idx="5"/>
          </p:nvPr>
        </p:nvSpPr>
        <p:spPr/>
        <p:txBody>
          <a:bodyPr/>
          <a:lstStyle/>
          <a:p>
            <a:fld id="{6462BB34-3D0A-3D43-8B90-0FD7FEF12336}" type="slidenum">
              <a:rPr lang="en-US" smtClean="0"/>
              <a:pPr/>
              <a:t>2</a:t>
            </a:fld>
            <a:endParaRPr lang="en-US" dirty="0"/>
          </a:p>
        </p:txBody>
      </p:sp>
    </p:spTree>
    <p:extLst>
      <p:ext uri="{BB962C8B-B14F-4D97-AF65-F5344CB8AC3E}">
        <p14:creationId xmlns:p14="http://schemas.microsoft.com/office/powerpoint/2010/main" val="4171466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effectLst/>
                <a:latin typeface="Arial" panose="020B0604020202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 system supports 15 differing user roles, many of which have limited daily use.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Enforcing role-based presentation and business logic increases development effort and expands the scope of testing.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As a result, the system is complex and fragile and remains difficult to understand even for experienced support and development staff, often requiring months or years to reach knowledge proficiency.</a:t>
            </a:r>
            <a:endParaRPr lang="en-AU" sz="1200" b="0" i="0" kern="1200" dirty="0">
              <a:solidFill>
                <a:schemeClr val="tx1"/>
              </a:solidFill>
              <a:effectLst/>
              <a:latin typeface="Arial" panose="020B0604020202020204" pitchFamily="34" charset="0"/>
              <a:ea typeface="+mn-ea"/>
              <a:cs typeface="+mn-cs"/>
            </a:endParaRPr>
          </a:p>
          <a:p>
            <a:endParaRPr lang="en-GB" dirty="0"/>
          </a:p>
        </p:txBody>
      </p:sp>
      <p:sp>
        <p:nvSpPr>
          <p:cNvPr id="4" name="Slide Number Placeholder 3"/>
          <p:cNvSpPr>
            <a:spLocks noGrp="1"/>
          </p:cNvSpPr>
          <p:nvPr>
            <p:ph type="sldNum" sz="quarter" idx="5"/>
          </p:nvPr>
        </p:nvSpPr>
        <p:spPr/>
        <p:txBody>
          <a:bodyPr/>
          <a:lstStyle/>
          <a:p>
            <a:fld id="{6462BB34-3D0A-3D43-8B90-0FD7FEF12336}" type="slidenum">
              <a:rPr lang="en-US" smtClean="0"/>
              <a:pPr/>
              <a:t>3</a:t>
            </a:fld>
            <a:endParaRPr lang="en-US" dirty="0"/>
          </a:p>
        </p:txBody>
      </p:sp>
    </p:spTree>
    <p:extLst>
      <p:ext uri="{BB962C8B-B14F-4D97-AF65-F5344CB8AC3E}">
        <p14:creationId xmlns:p14="http://schemas.microsoft.com/office/powerpoint/2010/main" val="1605766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kern="1200" dirty="0">
                <a:solidFill>
                  <a:schemeClr val="tx1"/>
                </a:solidFill>
                <a:effectLst/>
                <a:latin typeface="Arial" panose="020B0604020202020204" pitchFamily="34" charset="0"/>
                <a:ea typeface="+mn-ea"/>
                <a:cs typeface="+mn-cs"/>
              </a:rPr>
              <a:t>Maintaining this complexity comes at a significant cost.</a:t>
            </a:r>
          </a:p>
          <a:p>
            <a:r>
              <a:rPr lang="en-AU" sz="1200" b="0" i="0" kern="1200" dirty="0">
                <a:solidFill>
                  <a:schemeClr val="tx1"/>
                </a:solidFill>
                <a:effectLst/>
                <a:latin typeface="Arial" panose="020B0604020202020204" pitchFamily="34" charset="0"/>
                <a:ea typeface="+mn-ea"/>
                <a:cs typeface="+mn-cs"/>
              </a:rPr>
              <a:t>….</a:t>
            </a:r>
          </a:p>
          <a:p>
            <a:pPr marL="0" indent="0">
              <a:buFontTx/>
              <a:buNone/>
            </a:pPr>
            <a:r>
              <a:rPr lang="en-AU" sz="1200" b="0" i="0" kern="1200" dirty="0">
                <a:solidFill>
                  <a:schemeClr val="tx1"/>
                </a:solidFill>
                <a:effectLst/>
                <a:latin typeface="Arial" panose="020B0604020202020204" pitchFamily="34" charset="0"/>
                <a:ea typeface="+mn-ea"/>
                <a:cs typeface="+mn-cs"/>
              </a:rPr>
              <a:t>Within the two years that FOEX has been implemented one of the two </a:t>
            </a:r>
            <a:r>
              <a:rPr lang="en-AU" sz="1200" b="0" i="0" kern="1200">
                <a:solidFill>
                  <a:schemeClr val="tx1"/>
                </a:solidFill>
                <a:effectLst/>
                <a:latin typeface="Arial" panose="020B0604020202020204" pitchFamily="34" charset="0"/>
                <a:ea typeface="+mn-ea"/>
                <a:cs typeface="+mn-cs"/>
              </a:rPr>
              <a:t>developers has </a:t>
            </a:r>
            <a:r>
              <a:rPr lang="en-AU" sz="1200" b="0" i="0" kern="1200" dirty="0">
                <a:solidFill>
                  <a:schemeClr val="tx1"/>
                </a:solidFill>
                <a:effectLst/>
                <a:latin typeface="Arial" panose="020B0604020202020204" pitchFamily="34" charset="0"/>
                <a:ea typeface="+mn-ea"/>
                <a:cs typeface="+mn-cs"/>
              </a:rPr>
              <a:t>never trained or been involved in its development.  </a:t>
            </a:r>
          </a:p>
          <a:p>
            <a:pPr marL="0" indent="0">
              <a:buFontTx/>
              <a:buNone/>
            </a:pPr>
            <a:r>
              <a:rPr lang="en-AU" sz="1200" b="0" i="0" kern="1200" dirty="0">
                <a:solidFill>
                  <a:schemeClr val="tx1"/>
                </a:solidFill>
                <a:effectLst/>
                <a:latin typeface="Arial" panose="020B0604020202020204" pitchFamily="34" charset="0"/>
                <a:ea typeface="+mn-ea"/>
                <a:cs typeface="+mn-cs"/>
              </a:rPr>
              <a:t>The data disparities exist because the system is built round a ridged pathways (or processing stubs), that do not support out-of-sequence events.  When these occur, manual intervention is required.  </a:t>
            </a:r>
          </a:p>
          <a:p>
            <a:pPr marL="0" indent="0">
              <a:buFontTx/>
              <a:buNone/>
            </a:pPr>
            <a:r>
              <a:rPr lang="en-AU" sz="1200" b="0" i="0" kern="1200" dirty="0">
                <a:solidFill>
                  <a:schemeClr val="tx1"/>
                </a:solidFill>
                <a:effectLst/>
                <a:latin typeface="Arial" panose="020B0604020202020204" pitchFamily="34" charset="0"/>
                <a:ea typeface="+mn-ea"/>
                <a:cs typeface="+mn-cs"/>
              </a:rPr>
              <a:t>Examples of correction include: </a:t>
            </a:r>
          </a:p>
          <a:p>
            <a:pPr marL="628650" lvl="1" indent="-171450">
              <a:buFont typeface="Wingdings" panose="05000000000000000000" pitchFamily="2" charset="2"/>
              <a:buChar char="§"/>
            </a:pPr>
            <a:r>
              <a:rPr lang="en-AU" sz="1200" b="0" i="0" kern="1200" dirty="0">
                <a:solidFill>
                  <a:schemeClr val="tx1"/>
                </a:solidFill>
                <a:effectLst/>
                <a:latin typeface="Arial" panose="020B0604020202020204" pitchFamily="34" charset="0"/>
                <a:ea typeface="+mn-ea"/>
                <a:cs typeface="+mn-cs"/>
              </a:rPr>
              <a:t>Merge/Unmerge Clients records</a:t>
            </a:r>
          </a:p>
          <a:p>
            <a:pPr marL="628650" lvl="1" indent="-171450">
              <a:buFont typeface="Wingdings" panose="05000000000000000000" pitchFamily="2" charset="2"/>
              <a:buChar char="§"/>
            </a:pPr>
            <a:r>
              <a:rPr lang="en-AU" sz="1200" b="0" i="0" kern="1200" dirty="0">
                <a:solidFill>
                  <a:schemeClr val="tx1"/>
                </a:solidFill>
                <a:effectLst/>
                <a:latin typeface="Arial" panose="020B0604020202020204" pitchFamily="34" charset="0"/>
                <a:ea typeface="+mn-ea"/>
                <a:cs typeface="+mn-cs"/>
              </a:rPr>
              <a:t>Update Client Record Statuses  </a:t>
            </a:r>
          </a:p>
          <a:p>
            <a:pPr marL="628650" lvl="1" indent="-171450">
              <a:buFont typeface="Wingdings" panose="05000000000000000000" pitchFamily="2" charset="2"/>
              <a:buChar char="§"/>
            </a:pPr>
            <a:r>
              <a:rPr lang="en-AU" sz="1200" b="0" i="0" kern="1200" dirty="0">
                <a:solidFill>
                  <a:schemeClr val="tx1"/>
                </a:solidFill>
                <a:effectLst/>
                <a:latin typeface="Arial" panose="020B0604020202020204" pitchFamily="34" charset="0"/>
                <a:ea typeface="+mn-ea"/>
                <a:cs typeface="+mn-cs"/>
              </a:rPr>
              <a:t>Adjustment Appointment States to enable workflow progression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I was completely shocked to discover that end-user are allowed to run back-end SQL scripts to rectify data inconsistencies.</a:t>
            </a:r>
            <a:endParaRPr lang="en-AU" sz="1200" b="0" i="0" kern="1200" dirty="0">
              <a:solidFill>
                <a:schemeClr val="tx1"/>
              </a:solidFill>
              <a:effectLst/>
              <a:latin typeface="Arial" panose="020B0604020202020204" pitchFamily="34" charset="0"/>
              <a:ea typeface="+mn-ea"/>
              <a:cs typeface="+mn-cs"/>
            </a:endParaRPr>
          </a:p>
          <a:p>
            <a:endParaRPr lang="en-GB" dirty="0"/>
          </a:p>
        </p:txBody>
      </p:sp>
      <p:sp>
        <p:nvSpPr>
          <p:cNvPr id="4" name="Slide Number Placeholder 3"/>
          <p:cNvSpPr>
            <a:spLocks noGrp="1"/>
          </p:cNvSpPr>
          <p:nvPr>
            <p:ph type="sldNum" sz="quarter" idx="5"/>
          </p:nvPr>
        </p:nvSpPr>
        <p:spPr/>
        <p:txBody>
          <a:bodyPr/>
          <a:lstStyle/>
          <a:p>
            <a:fld id="{6462BB34-3D0A-3D43-8B90-0FD7FEF12336}" type="slidenum">
              <a:rPr lang="en-US" smtClean="0"/>
              <a:pPr/>
              <a:t>4</a:t>
            </a:fld>
            <a:endParaRPr lang="en-US" dirty="0"/>
          </a:p>
        </p:txBody>
      </p:sp>
    </p:spTree>
    <p:extLst>
      <p:ext uri="{BB962C8B-B14F-4D97-AF65-F5344CB8AC3E}">
        <p14:creationId xmlns:p14="http://schemas.microsoft.com/office/powerpoint/2010/main" val="3102769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i="0" kern="1200" dirty="0">
                <a:solidFill>
                  <a:schemeClr val="tx1"/>
                </a:solidFill>
                <a:effectLst/>
                <a:latin typeface="Arial" panose="020B0604020202020204" pitchFamily="34" charset="0"/>
                <a:ea typeface="+mn-ea"/>
                <a:cs typeface="+mn-cs"/>
              </a:rPr>
              <a:t>…</a:t>
            </a:r>
          </a:p>
          <a:p>
            <a:endParaRPr lang="en-GB" dirty="0"/>
          </a:p>
        </p:txBody>
      </p:sp>
      <p:sp>
        <p:nvSpPr>
          <p:cNvPr id="4" name="Slide Number Placeholder 3"/>
          <p:cNvSpPr>
            <a:spLocks noGrp="1"/>
          </p:cNvSpPr>
          <p:nvPr>
            <p:ph type="sldNum" sz="quarter" idx="5"/>
          </p:nvPr>
        </p:nvSpPr>
        <p:spPr/>
        <p:txBody>
          <a:bodyPr/>
          <a:lstStyle/>
          <a:p>
            <a:fld id="{6462BB34-3D0A-3D43-8B90-0FD7FEF12336}" type="slidenum">
              <a:rPr lang="en-US" smtClean="0"/>
              <a:pPr/>
              <a:t>5</a:t>
            </a:fld>
            <a:endParaRPr lang="en-US" dirty="0"/>
          </a:p>
        </p:txBody>
      </p:sp>
    </p:spTree>
    <p:extLst>
      <p:ext uri="{BB962C8B-B14F-4D97-AF65-F5344CB8AC3E}">
        <p14:creationId xmlns:p14="http://schemas.microsoft.com/office/powerpoint/2010/main" val="2350878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AU" dirty="0"/>
              <a:t>At the top are the 15 different types of users</a:t>
            </a:r>
          </a:p>
          <a:p>
            <a:endParaRPr lang="en-AU" dirty="0"/>
          </a:p>
          <a:p>
            <a:r>
              <a:rPr lang="en-AU" dirty="0"/>
              <a:t>Here the first (01) DRAGON role assumes a higher responsibility in the application, yet they lack Create Authority and can only Read Update and Delete.</a:t>
            </a:r>
          </a:p>
          <a:p>
            <a:r>
              <a:rPr lang="en-AU" dirty="0"/>
              <a:t>The (06) ADMINISRATION OFFICER can Create but has no Update authority, so consequentially requires a DRAGON user to modify any selection they make.</a:t>
            </a:r>
          </a:p>
          <a:p>
            <a:endParaRPr lang="en-AU" dirty="0"/>
          </a:p>
          <a:p>
            <a:r>
              <a:rPr lang="en-AU" dirty="0"/>
              <a:t>This approach departs from conventional design principles and is indicative of unnecessary complexity. It is important to note that the system is fully audited, with all user-initiated changes traceable.</a:t>
            </a:r>
          </a:p>
        </p:txBody>
      </p:sp>
    </p:spTree>
    <p:extLst>
      <p:ext uri="{BB962C8B-B14F-4D97-AF65-F5344CB8AC3E}">
        <p14:creationId xmlns:p14="http://schemas.microsoft.com/office/powerpoint/2010/main" val="3182072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462BB34-3D0A-3D43-8B90-0FD7FEF12336}" type="slidenum">
              <a:rPr lang="en-US" smtClean="0"/>
              <a:pPr/>
              <a:t>7</a:t>
            </a:fld>
            <a:endParaRPr lang="en-US" dirty="0"/>
          </a:p>
        </p:txBody>
      </p:sp>
    </p:spTree>
    <p:extLst>
      <p:ext uri="{BB962C8B-B14F-4D97-AF65-F5344CB8AC3E}">
        <p14:creationId xmlns:p14="http://schemas.microsoft.com/office/powerpoint/2010/main" val="1206861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For BSQR4 FOEX uses a scrolling window which is reduced for small screens or when the zooming in to ease user readability.</a:t>
            </a:r>
          </a:p>
          <a:p>
            <a:endParaRPr lang="en-GB" dirty="0"/>
          </a:p>
        </p:txBody>
      </p:sp>
      <p:sp>
        <p:nvSpPr>
          <p:cNvPr id="4" name="Slide Number Placeholder 3"/>
          <p:cNvSpPr>
            <a:spLocks noGrp="1"/>
          </p:cNvSpPr>
          <p:nvPr>
            <p:ph type="sldNum" sz="quarter" idx="5"/>
          </p:nvPr>
        </p:nvSpPr>
        <p:spPr/>
        <p:txBody>
          <a:bodyPr/>
          <a:lstStyle/>
          <a:p>
            <a:fld id="{6462BB34-3D0A-3D43-8B90-0FD7FEF12336}" type="slidenum">
              <a:rPr lang="en-US" smtClean="0"/>
              <a:pPr/>
              <a:t>8</a:t>
            </a:fld>
            <a:endParaRPr lang="en-US" dirty="0"/>
          </a:p>
        </p:txBody>
      </p:sp>
    </p:spTree>
    <p:extLst>
      <p:ext uri="{BB962C8B-B14F-4D97-AF65-F5344CB8AC3E}">
        <p14:creationId xmlns:p14="http://schemas.microsoft.com/office/powerpoint/2010/main" val="2332616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Native APEX designs allows regions to collapse and are automatically responsive to cater for the use of different types of devices (PC, iPad, tablet, phone). </a:t>
            </a:r>
          </a:p>
          <a:p>
            <a:endParaRPr lang="en-AU" dirty="0"/>
          </a:p>
          <a:p>
            <a:r>
              <a:rPr lang="en-AU" dirty="0"/>
              <a:t>This provides an alternate solution to scrollbars while not reducing the capabilities to search records.</a:t>
            </a:r>
          </a:p>
          <a:p>
            <a:endParaRPr lang="en-AU" dirty="0"/>
          </a:p>
          <a:p>
            <a:r>
              <a:rPr lang="en-AU" dirty="0"/>
              <a:t>When this was presented, the layout was deemed unacceptable. My view is simply, as long as the interface is intuitive for end users, the design should leverage native design principles, rather than attempting to replicate legacy layouts.</a:t>
            </a:r>
            <a:endParaRPr lang="en-GB" dirty="0"/>
          </a:p>
        </p:txBody>
      </p:sp>
      <p:sp>
        <p:nvSpPr>
          <p:cNvPr id="4" name="Slide Number Placeholder 3"/>
          <p:cNvSpPr>
            <a:spLocks noGrp="1"/>
          </p:cNvSpPr>
          <p:nvPr>
            <p:ph type="sldNum" sz="quarter" idx="5"/>
          </p:nvPr>
        </p:nvSpPr>
        <p:spPr/>
        <p:txBody>
          <a:bodyPr/>
          <a:lstStyle/>
          <a:p>
            <a:fld id="{6462BB34-3D0A-3D43-8B90-0FD7FEF12336}" type="slidenum">
              <a:rPr lang="en-US" smtClean="0"/>
              <a:pPr/>
              <a:t>9</a:t>
            </a:fld>
            <a:endParaRPr lang="en-US" dirty="0"/>
          </a:p>
        </p:txBody>
      </p:sp>
    </p:spTree>
    <p:extLst>
      <p:ext uri="{BB962C8B-B14F-4D97-AF65-F5344CB8AC3E}">
        <p14:creationId xmlns:p14="http://schemas.microsoft.com/office/powerpoint/2010/main" val="3703320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choice is not between modern and traditional development.</a:t>
            </a:r>
          </a:p>
          <a:p>
            <a:endParaRPr lang="en-GB" dirty="0"/>
          </a:p>
          <a:p>
            <a:r>
              <a:rPr lang="en-GB" dirty="0"/>
              <a:t>It is between replicating a system exactly as it exists today — including its inefficiencies — or deliberately designing a system that is simpler, more generic, and easier to maintain.</a:t>
            </a:r>
          </a:p>
          <a:p>
            <a:endParaRPr lang="en-GB" dirty="0"/>
          </a:p>
          <a:p>
            <a:r>
              <a:rPr lang="en-GB" dirty="0"/>
              <a:t>An API-led architecture and interaction model is not designed to preserve system nuance; it is designed to remove it.</a:t>
            </a:r>
          </a:p>
          <a:p>
            <a:endParaRPr lang="en-GB" dirty="0"/>
          </a:p>
        </p:txBody>
      </p:sp>
      <p:sp>
        <p:nvSpPr>
          <p:cNvPr id="4" name="Slide Number Placeholder 3"/>
          <p:cNvSpPr>
            <a:spLocks noGrp="1"/>
          </p:cNvSpPr>
          <p:nvPr>
            <p:ph type="sldNum" sz="quarter" idx="5"/>
          </p:nvPr>
        </p:nvSpPr>
        <p:spPr/>
        <p:txBody>
          <a:bodyPr/>
          <a:lstStyle/>
          <a:p>
            <a:fld id="{6462BB34-3D0A-3D43-8B90-0FD7FEF12336}" type="slidenum">
              <a:rPr lang="en-US" smtClean="0"/>
              <a:pPr/>
              <a:t>10</a:t>
            </a:fld>
            <a:endParaRPr lang="en-US" dirty="0"/>
          </a:p>
        </p:txBody>
      </p:sp>
    </p:spTree>
    <p:extLst>
      <p:ext uri="{BB962C8B-B14F-4D97-AF65-F5344CB8AC3E}">
        <p14:creationId xmlns:p14="http://schemas.microsoft.com/office/powerpoint/2010/main" val="1436410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purpose of the API framework is to provide a more efficient, generic, and maintainable way of updating and interacting with the system.</a:t>
            </a:r>
          </a:p>
          <a:p>
            <a:endParaRPr lang="en-GB" dirty="0"/>
          </a:p>
          <a:p>
            <a:r>
              <a:rPr lang="en-GB" dirty="0"/>
              <a:t>This means some existing UI patterns and behaviours — while familiar — may need to be relinquished because they are not aligned with modern, responsive design principles or long-term sustainability.</a:t>
            </a:r>
          </a:p>
          <a:p>
            <a:endParaRPr lang="en-GB" dirty="0"/>
          </a:p>
        </p:txBody>
      </p:sp>
      <p:sp>
        <p:nvSpPr>
          <p:cNvPr id="4" name="Slide Number Placeholder 3"/>
          <p:cNvSpPr>
            <a:spLocks noGrp="1"/>
          </p:cNvSpPr>
          <p:nvPr>
            <p:ph type="sldNum" sz="quarter" idx="5"/>
          </p:nvPr>
        </p:nvSpPr>
        <p:spPr/>
        <p:txBody>
          <a:bodyPr/>
          <a:lstStyle/>
          <a:p>
            <a:fld id="{6462BB34-3D0A-3D43-8B90-0FD7FEF12336}" type="slidenum">
              <a:rPr lang="en-US" smtClean="0"/>
              <a:pPr/>
              <a:t>11</a:t>
            </a:fld>
            <a:endParaRPr lang="en-US" dirty="0"/>
          </a:p>
        </p:txBody>
      </p:sp>
    </p:spTree>
    <p:extLst>
      <p:ext uri="{BB962C8B-B14F-4D97-AF65-F5344CB8AC3E}">
        <p14:creationId xmlns:p14="http://schemas.microsoft.com/office/powerpoint/2010/main" val="3853120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recommendation is clear and deliberate.</a:t>
            </a:r>
          </a:p>
          <a:p>
            <a:endParaRPr lang="en-GB" dirty="0"/>
          </a:p>
          <a:p>
            <a:r>
              <a:rPr lang="en-GB" dirty="0"/>
              <a:t>If BSQ proceeds with an API-led architecture, it must be adopted fully and consistently.</a:t>
            </a:r>
          </a:p>
          <a:p>
            <a:endParaRPr lang="en-GB" dirty="0"/>
          </a:p>
          <a:p>
            <a:r>
              <a:rPr lang="en-GB" dirty="0"/>
              <a:t>The goal is not to preserve every historical behaviour, but to create a system that is easier to manage, safer to change, and fit for the future state.</a:t>
            </a:r>
          </a:p>
          <a:p>
            <a:endParaRPr lang="en-GB" dirty="0"/>
          </a:p>
          <a:p>
            <a:r>
              <a:rPr lang="en-GB" dirty="0"/>
              <a:t>What is needed from leadership is endorsement of this direction and acceptance of the trade-offs involved.</a:t>
            </a:r>
          </a:p>
          <a:p>
            <a:endParaRPr lang="en-GB" dirty="0"/>
          </a:p>
        </p:txBody>
      </p:sp>
      <p:sp>
        <p:nvSpPr>
          <p:cNvPr id="4" name="Slide Number Placeholder 3"/>
          <p:cNvSpPr>
            <a:spLocks noGrp="1"/>
          </p:cNvSpPr>
          <p:nvPr>
            <p:ph type="sldNum" sz="quarter" idx="5"/>
          </p:nvPr>
        </p:nvSpPr>
        <p:spPr/>
        <p:txBody>
          <a:bodyPr/>
          <a:lstStyle/>
          <a:p>
            <a:fld id="{6462BB34-3D0A-3D43-8B90-0FD7FEF12336}" type="slidenum">
              <a:rPr lang="en-US" smtClean="0"/>
              <a:pPr/>
              <a:t>12</a:t>
            </a:fld>
            <a:endParaRPr lang="en-US" dirty="0"/>
          </a:p>
        </p:txBody>
      </p:sp>
    </p:spTree>
    <p:extLst>
      <p:ext uri="{BB962C8B-B14F-4D97-AF65-F5344CB8AC3E}">
        <p14:creationId xmlns:p14="http://schemas.microsoft.com/office/powerpoint/2010/main" val="890364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gradFill flip="none" rotWithShape="1">
          <a:gsLst>
            <a:gs pos="0">
              <a:srgbClr val="004386"/>
            </a:gs>
            <a:gs pos="0">
              <a:schemeClr val="bg1"/>
            </a:gs>
            <a:gs pos="10000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6365AB-6794-C623-B510-74FDC6A01CAC}"/>
              </a:ext>
            </a:extLst>
          </p:cNvPr>
          <p:cNvPicPr>
            <a:picLocks noGrp="1" noRot="1" noChangeAspect="1" noMove="1" noResize="1" noEditPoints="1" noAdjustHandles="1" noChangeArrowheads="1" noChangeShapeType="1" noCrop="1"/>
          </p:cNvPicPr>
          <p:nvPr userDrawn="1"/>
        </p:nvPicPr>
        <p:blipFill>
          <a:blip r:embed="rId2"/>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7A091252-B6D9-5AF4-4833-E2222F38CF0C}"/>
              </a:ext>
            </a:extLst>
          </p:cNvPr>
          <p:cNvSpPr>
            <a:spLocks noGrp="1"/>
          </p:cNvSpPr>
          <p:nvPr>
            <p:ph type="ctrTitle" hasCustomPrompt="1"/>
          </p:nvPr>
        </p:nvSpPr>
        <p:spPr>
          <a:xfrm>
            <a:off x="0" y="1128939"/>
            <a:ext cx="9144000" cy="1175035"/>
          </a:xfrm>
        </p:spPr>
        <p:txBody>
          <a:bodyPr anchor="b">
            <a:normAutofit/>
          </a:bodyPr>
          <a:lstStyle>
            <a:lvl1pPr algn="ctr">
              <a:defRPr sz="3600" b="1"/>
            </a:lvl1pPr>
          </a:lstStyle>
          <a:p>
            <a:r>
              <a:rPr lang="en-US" dirty="0"/>
              <a:t>Click to edit</a:t>
            </a:r>
            <a:br>
              <a:rPr lang="en-US" dirty="0"/>
            </a:br>
            <a:r>
              <a:rPr lang="en-US" dirty="0"/>
              <a:t>presentation title</a:t>
            </a:r>
            <a:endParaRPr lang="en-AU" dirty="0"/>
          </a:p>
        </p:txBody>
      </p:sp>
      <p:sp>
        <p:nvSpPr>
          <p:cNvPr id="3" name="Subtitle 2">
            <a:extLst>
              <a:ext uri="{FF2B5EF4-FFF2-40B4-BE49-F238E27FC236}">
                <a16:creationId xmlns:a16="http://schemas.microsoft.com/office/drawing/2014/main" id="{7C7B7479-93BD-1A55-AC76-0E3A3F228E68}"/>
              </a:ext>
            </a:extLst>
          </p:cNvPr>
          <p:cNvSpPr>
            <a:spLocks noGrp="1"/>
          </p:cNvSpPr>
          <p:nvPr>
            <p:ph type="subTitle" idx="1" hasCustomPrompt="1"/>
          </p:nvPr>
        </p:nvSpPr>
        <p:spPr>
          <a:xfrm>
            <a:off x="0" y="2472221"/>
            <a:ext cx="9144000" cy="77271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subtitle</a:t>
            </a:r>
            <a:endParaRPr lang="en-AU" dirty="0"/>
          </a:p>
        </p:txBody>
      </p:sp>
    </p:spTree>
    <p:extLst>
      <p:ext uri="{BB962C8B-B14F-4D97-AF65-F5344CB8AC3E}">
        <p14:creationId xmlns:p14="http://schemas.microsoft.com/office/powerpoint/2010/main" val="2174126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D29666-5BC8-944E-4E62-ED13A4916B3E}"/>
              </a:ext>
            </a:extLst>
          </p:cNvPr>
          <p:cNvPicPr>
            <a:picLocks noGrp="1" noRot="1" noChangeAspect="1" noMove="1" noResize="1" noEditPoints="1" noAdjustHandles="1" noChangeArrowheads="1" noChangeShapeType="1" noCrop="1"/>
          </p:cNvPicPr>
          <p:nvPr userDrawn="1"/>
        </p:nvPicPr>
        <p:blipFill>
          <a:blip r:embed="rId2"/>
          <a:srcRect/>
          <a:stretch/>
        </p:blipFill>
        <p:spPr>
          <a:xfrm>
            <a:off x="0" y="0"/>
            <a:ext cx="9144000" cy="5143500"/>
          </a:xfrm>
          <a:prstGeom prst="rect">
            <a:avLst/>
          </a:prstGeom>
        </p:spPr>
      </p:pic>
      <p:sp>
        <p:nvSpPr>
          <p:cNvPr id="11" name="Title 1">
            <a:extLst>
              <a:ext uri="{FF2B5EF4-FFF2-40B4-BE49-F238E27FC236}">
                <a16:creationId xmlns:a16="http://schemas.microsoft.com/office/drawing/2014/main" id="{6825662B-2758-FDE2-3A31-B4267AB27C05}"/>
              </a:ext>
            </a:extLst>
          </p:cNvPr>
          <p:cNvSpPr>
            <a:spLocks noGrp="1"/>
          </p:cNvSpPr>
          <p:nvPr>
            <p:ph type="ctrTitle" hasCustomPrompt="1"/>
          </p:nvPr>
        </p:nvSpPr>
        <p:spPr>
          <a:xfrm>
            <a:off x="0" y="1128939"/>
            <a:ext cx="9144000" cy="1175035"/>
          </a:xfrm>
        </p:spPr>
        <p:txBody>
          <a:bodyPr anchor="b">
            <a:normAutofit/>
          </a:bodyPr>
          <a:lstStyle>
            <a:lvl1pPr algn="ctr">
              <a:defRPr sz="3600" b="1">
                <a:solidFill>
                  <a:schemeClr val="bg1"/>
                </a:solidFill>
              </a:defRPr>
            </a:lvl1pPr>
          </a:lstStyle>
          <a:p>
            <a:r>
              <a:rPr lang="en-US" dirty="0"/>
              <a:t>Click to edit</a:t>
            </a:r>
            <a:br>
              <a:rPr lang="en-US" dirty="0"/>
            </a:br>
            <a:r>
              <a:rPr lang="en-US" dirty="0"/>
              <a:t>presentation title</a:t>
            </a:r>
            <a:endParaRPr lang="en-AU" dirty="0"/>
          </a:p>
        </p:txBody>
      </p:sp>
      <p:sp>
        <p:nvSpPr>
          <p:cNvPr id="13" name="Subtitle 2">
            <a:extLst>
              <a:ext uri="{FF2B5EF4-FFF2-40B4-BE49-F238E27FC236}">
                <a16:creationId xmlns:a16="http://schemas.microsoft.com/office/drawing/2014/main" id="{8B1C62A5-D2B9-7FE4-C98B-6CF615EBD4D2}"/>
              </a:ext>
            </a:extLst>
          </p:cNvPr>
          <p:cNvSpPr>
            <a:spLocks noGrp="1"/>
          </p:cNvSpPr>
          <p:nvPr>
            <p:ph type="subTitle" idx="1" hasCustomPrompt="1"/>
          </p:nvPr>
        </p:nvSpPr>
        <p:spPr>
          <a:xfrm>
            <a:off x="0" y="2472221"/>
            <a:ext cx="9144000" cy="772716"/>
          </a:xfrm>
        </p:spPr>
        <p:txBody>
          <a:bodyPr/>
          <a:lstStyle>
            <a:lvl1pPr marL="0" indent="0" algn="ctr">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subtitle</a:t>
            </a:r>
            <a:endParaRPr lang="en-AU" dirty="0"/>
          </a:p>
        </p:txBody>
      </p:sp>
    </p:spTree>
    <p:extLst>
      <p:ext uri="{BB962C8B-B14F-4D97-AF65-F5344CB8AC3E}">
        <p14:creationId xmlns:p14="http://schemas.microsoft.com/office/powerpoint/2010/main" val="310497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bg>
      <p:bgPr>
        <a:gradFill>
          <a:gsLst>
            <a:gs pos="0">
              <a:schemeClr val="bg1"/>
            </a:gs>
            <a:gs pos="100000">
              <a:schemeClr val="bg2">
                <a:shade val="63000"/>
                <a:satMod val="120000"/>
              </a:schemeClr>
            </a:gs>
          </a:gsLst>
          <a:path path="circle">
            <a:fillToRect l="50000" t="50000" r="50000" b="50000"/>
          </a:path>
        </a:gradFill>
        <a:effectLst/>
      </p:bgPr>
    </p:bg>
    <p:spTree>
      <p:nvGrpSpPr>
        <p:cNvPr id="1" name=""/>
        <p:cNvGrpSpPr/>
        <p:nvPr/>
      </p:nvGrpSpPr>
      <p:grpSpPr>
        <a:xfrm>
          <a:off x="0" y="0"/>
          <a:ext cx="0" cy="0"/>
          <a:chOff x="0" y="0"/>
          <a:chExt cx="0" cy="0"/>
        </a:xfrm>
      </p:grpSpPr>
      <p:pic>
        <p:nvPicPr>
          <p:cNvPr id="12" name="Picture 11" descr="A black rectangle with white text&#10;&#10;AI-generated content may be incorrect.">
            <a:extLst>
              <a:ext uri="{FF2B5EF4-FFF2-40B4-BE49-F238E27FC236}">
                <a16:creationId xmlns:a16="http://schemas.microsoft.com/office/drawing/2014/main" id="{2DF61847-B821-6620-9767-1CF2E2F9DA5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62009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tx1"/>
        </a:solidFill>
        <a:effectLst/>
      </p:bgPr>
    </p:bg>
    <p:spTree>
      <p:nvGrpSpPr>
        <p:cNvPr id="1" name=""/>
        <p:cNvGrpSpPr/>
        <p:nvPr/>
      </p:nvGrpSpPr>
      <p:grpSpPr>
        <a:xfrm>
          <a:off x="0" y="0"/>
          <a:ext cx="0" cy="0"/>
          <a:chOff x="0" y="0"/>
          <a:chExt cx="0" cy="0"/>
        </a:xfrm>
      </p:grpSpPr>
      <p:pic>
        <p:nvPicPr>
          <p:cNvPr id="9" name="Picture 8" descr="A black and blue rectangle with white text&#10;&#10;AI-generated content may be incorrect.">
            <a:extLst>
              <a:ext uri="{FF2B5EF4-FFF2-40B4-BE49-F238E27FC236}">
                <a16:creationId xmlns:a16="http://schemas.microsoft.com/office/drawing/2014/main" id="{47ED91DE-C9D7-BB5F-CD6E-F9FC138F79BE}"/>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15" name="Text Placeholder 2">
            <a:extLst>
              <a:ext uri="{FF2B5EF4-FFF2-40B4-BE49-F238E27FC236}">
                <a16:creationId xmlns:a16="http://schemas.microsoft.com/office/drawing/2014/main" id="{EF05BC6D-F355-5EF4-0DA1-21FC4A719C71}"/>
              </a:ext>
            </a:extLst>
          </p:cNvPr>
          <p:cNvSpPr>
            <a:spLocks noGrp="1"/>
          </p:cNvSpPr>
          <p:nvPr>
            <p:ph type="body" idx="10" hasCustomPrompt="1"/>
          </p:nvPr>
        </p:nvSpPr>
        <p:spPr>
          <a:xfrm>
            <a:off x="623888" y="2862208"/>
            <a:ext cx="7886700" cy="539716"/>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subtitle</a:t>
            </a:r>
          </a:p>
        </p:txBody>
      </p:sp>
      <p:sp>
        <p:nvSpPr>
          <p:cNvPr id="16" name="Title 1">
            <a:extLst>
              <a:ext uri="{FF2B5EF4-FFF2-40B4-BE49-F238E27FC236}">
                <a16:creationId xmlns:a16="http://schemas.microsoft.com/office/drawing/2014/main" id="{1A72E5A2-2906-70D8-6770-2186F6509AE3}"/>
              </a:ext>
            </a:extLst>
          </p:cNvPr>
          <p:cNvSpPr>
            <a:spLocks noGrp="1"/>
          </p:cNvSpPr>
          <p:nvPr>
            <p:ph type="ctrTitle" hasCustomPrompt="1"/>
          </p:nvPr>
        </p:nvSpPr>
        <p:spPr>
          <a:xfrm>
            <a:off x="623888" y="1537018"/>
            <a:ext cx="7886700" cy="1175035"/>
          </a:xfrm>
        </p:spPr>
        <p:txBody>
          <a:bodyPr anchor="b">
            <a:normAutofit/>
          </a:bodyPr>
          <a:lstStyle>
            <a:lvl1pPr algn="l">
              <a:defRPr sz="3600" b="1">
                <a:solidFill>
                  <a:schemeClr val="bg1"/>
                </a:solidFill>
              </a:defRPr>
            </a:lvl1pPr>
          </a:lstStyle>
          <a:p>
            <a:r>
              <a:rPr lang="en-US" dirty="0"/>
              <a:t>Click to edit presentation title</a:t>
            </a:r>
            <a:endParaRPr lang="en-AU" dirty="0"/>
          </a:p>
        </p:txBody>
      </p:sp>
    </p:spTree>
    <p:extLst>
      <p:ext uri="{BB962C8B-B14F-4D97-AF65-F5344CB8AC3E}">
        <p14:creationId xmlns:p14="http://schemas.microsoft.com/office/powerpoint/2010/main" val="3084495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cknowledgement of Country">
    <p:bg>
      <p:bgPr>
        <a:solidFill>
          <a:schemeClr val="tx1"/>
        </a:solidFill>
        <a:effectLst/>
      </p:bgPr>
    </p:bg>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7B171D2B-0E84-B3B3-937A-E086C8FF84C5}"/>
              </a:ext>
            </a:extLst>
          </p:cNvPr>
          <p:cNvSpPr>
            <a:spLocks noGrp="1"/>
          </p:cNvSpPr>
          <p:nvPr>
            <p:ph type="ftr" sz="quarter" idx="3"/>
          </p:nvPr>
        </p:nvSpPr>
        <p:spPr>
          <a:xfrm>
            <a:off x="628650" y="4767263"/>
            <a:ext cx="3086100" cy="273844"/>
          </a:xfrm>
          <a:prstGeom prst="rect">
            <a:avLst/>
          </a:prstGeom>
        </p:spPr>
        <p:txBody>
          <a:bodyPr vert="horz" lIns="91440" tIns="45720" rIns="91440" bIns="45720" rtlCol="0" anchor="ctr"/>
          <a:lstStyle>
            <a:lvl1pPr algn="l">
              <a:defRPr sz="900">
                <a:solidFill>
                  <a:schemeClr val="bg1"/>
                </a:solidFill>
                <a:latin typeface="Arial" panose="020B0604020202020204" pitchFamily="34" charset="0"/>
                <a:cs typeface="Arial" panose="020B0604020202020204" pitchFamily="34" charset="0"/>
              </a:defRPr>
            </a:lvl1pPr>
          </a:lstStyle>
          <a:p>
            <a:r>
              <a:rPr lang="en-AU" dirty="0"/>
              <a:t>Footer</a:t>
            </a:r>
          </a:p>
        </p:txBody>
      </p:sp>
      <p:sp>
        <p:nvSpPr>
          <p:cNvPr id="8" name="Slide Number Placeholder 5">
            <a:extLst>
              <a:ext uri="{FF2B5EF4-FFF2-40B4-BE49-F238E27FC236}">
                <a16:creationId xmlns:a16="http://schemas.microsoft.com/office/drawing/2014/main" id="{F8EE4198-1386-93C0-9444-E55F9737C0DE}"/>
              </a:ext>
            </a:extLst>
          </p:cNvPr>
          <p:cNvSpPr>
            <a:spLocks noGrp="1"/>
          </p:cNvSpPr>
          <p:nvPr>
            <p:ph type="sldNum" sz="quarter" idx="4"/>
          </p:nvPr>
        </p:nvSpPr>
        <p:spPr>
          <a:xfrm>
            <a:off x="101009" y="4767263"/>
            <a:ext cx="417816" cy="273844"/>
          </a:xfrm>
          <a:prstGeom prst="rect">
            <a:avLst/>
          </a:prstGeom>
        </p:spPr>
        <p:txBody>
          <a:bodyPr vert="horz" lIns="91440" tIns="45720" rIns="91440" bIns="45720" rtlCol="0" anchor="ctr"/>
          <a:lstStyle>
            <a:lvl1pPr algn="r">
              <a:defRPr sz="900">
                <a:solidFill>
                  <a:schemeClr val="bg1"/>
                </a:solidFill>
                <a:latin typeface="Arial" panose="020B0604020202020204" pitchFamily="34" charset="0"/>
                <a:cs typeface="Arial" panose="020B0604020202020204" pitchFamily="34" charset="0"/>
              </a:defRPr>
            </a:lvl1pPr>
          </a:lstStyle>
          <a:p>
            <a:fld id="{5C75888C-CBC0-4624-9DF9-0508A40329AE}" type="slidenum">
              <a:rPr lang="en-AU" smtClean="0"/>
              <a:pPr/>
              <a:t>‹#›</a:t>
            </a:fld>
            <a:endParaRPr lang="en-AU" dirty="0"/>
          </a:p>
        </p:txBody>
      </p:sp>
      <p:pic>
        <p:nvPicPr>
          <p:cNvPr id="2" name="Picture 4" descr="A picture containing art, orange, graphics, majorelle blue&#10;&#10;Description automatically generated">
            <a:extLst>
              <a:ext uri="{FF2B5EF4-FFF2-40B4-BE49-F238E27FC236}">
                <a16:creationId xmlns:a16="http://schemas.microsoft.com/office/drawing/2014/main" id="{16909184-4D15-15E0-9516-F195857F3283}"/>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396"/>
          <a:stretch>
            <a:fillRect/>
          </a:stretch>
        </p:blipFill>
        <p:spPr bwMode="auto">
          <a:xfrm>
            <a:off x="0" y="391773"/>
            <a:ext cx="8795656" cy="150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A9EE70C2-C390-9CE6-6C51-319A26477A2F}"/>
              </a:ext>
            </a:extLst>
          </p:cNvPr>
          <p:cNvSpPr txBox="1">
            <a:spLocks noChangeArrowheads="1"/>
          </p:cNvSpPr>
          <p:nvPr userDrawn="1"/>
        </p:nvSpPr>
        <p:spPr bwMode="auto">
          <a:xfrm>
            <a:off x="1185271" y="2329176"/>
            <a:ext cx="6773457" cy="1833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eaLnBrk="1" hangingPunct="1"/>
            <a:r>
              <a:rPr lang="en-US" altLang="en-US" sz="1800" dirty="0">
                <a:solidFill>
                  <a:schemeClr val="bg2"/>
                </a:solidFill>
              </a:rPr>
              <a:t>The Queensland Government respectfully acknowledges Aboriginal and Torres Strait Islander peoples as the Traditional and Cultural Custodians of the lands on which we live and work to deliver healthcare to all Queenslanders and </a:t>
            </a:r>
            <a:r>
              <a:rPr lang="en-US" altLang="en-US" sz="1800" dirty="0" err="1">
                <a:solidFill>
                  <a:schemeClr val="bg2"/>
                </a:solidFill>
              </a:rPr>
              <a:t>recognises</a:t>
            </a:r>
            <a:r>
              <a:rPr lang="en-US" altLang="en-US" sz="1800" dirty="0">
                <a:solidFill>
                  <a:schemeClr val="bg2"/>
                </a:solidFill>
              </a:rPr>
              <a:t> the continuation of First Nations peoples’ cultures and connection </a:t>
            </a:r>
            <a:br>
              <a:rPr lang="en-US" altLang="en-US" sz="1800" dirty="0">
                <a:solidFill>
                  <a:schemeClr val="bg2"/>
                </a:solidFill>
              </a:rPr>
            </a:br>
            <a:r>
              <a:rPr lang="en-US" altLang="en-US" sz="1800" dirty="0">
                <a:solidFill>
                  <a:schemeClr val="bg2"/>
                </a:solidFill>
              </a:rPr>
              <a:t>to the lands, waters and communities across Queensland.</a:t>
            </a:r>
          </a:p>
        </p:txBody>
      </p:sp>
    </p:spTree>
    <p:extLst>
      <p:ext uri="{BB962C8B-B14F-4D97-AF65-F5344CB8AC3E}">
        <p14:creationId xmlns:p14="http://schemas.microsoft.com/office/powerpoint/2010/main" val="402438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1 (Light)">
    <p:bg>
      <p:bgPr>
        <a:solidFill>
          <a:schemeClr val="tx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9FD9E73-06EA-DB28-15BE-86703DF17749}"/>
              </a:ext>
            </a:extLst>
          </p:cNvPr>
          <p:cNvSpPr>
            <a:spLocks noGrp="1"/>
          </p:cNvSpPr>
          <p:nvPr>
            <p:ph type="title" hasCustomPrompt="1"/>
          </p:nvPr>
        </p:nvSpPr>
        <p:spPr>
          <a:xfrm>
            <a:off x="628650" y="273844"/>
            <a:ext cx="7886700" cy="730708"/>
          </a:xfrm>
          <a:prstGeom prst="rect">
            <a:avLst/>
          </a:prstGeom>
        </p:spPr>
        <p:txBody>
          <a:bodyPr vert="horz" lIns="91440" tIns="45720" rIns="91440" bIns="45720" rtlCol="0" anchor="ctr">
            <a:normAutofit/>
          </a:bodyPr>
          <a:lstStyle>
            <a:lvl1pPr>
              <a:defRPr>
                <a:solidFill>
                  <a:schemeClr val="bg1"/>
                </a:solidFill>
              </a:defRPr>
            </a:lvl1pPr>
          </a:lstStyle>
          <a:p>
            <a:r>
              <a:rPr lang="en-US" dirty="0"/>
              <a:t>Click to edit title</a:t>
            </a:r>
            <a:endParaRPr lang="en-AU" dirty="0"/>
          </a:p>
        </p:txBody>
      </p:sp>
      <p:sp>
        <p:nvSpPr>
          <p:cNvPr id="6" name="Text Placeholder 2">
            <a:extLst>
              <a:ext uri="{FF2B5EF4-FFF2-40B4-BE49-F238E27FC236}">
                <a16:creationId xmlns:a16="http://schemas.microsoft.com/office/drawing/2014/main" id="{D89C4591-D913-8883-D238-89D878FB8728}"/>
              </a:ext>
            </a:extLst>
          </p:cNvPr>
          <p:cNvSpPr>
            <a:spLocks noGrp="1"/>
          </p:cNvSpPr>
          <p:nvPr>
            <p:ph idx="1" hasCustomPrompt="1"/>
          </p:nvPr>
        </p:nvSpPr>
        <p:spPr>
          <a:xfrm>
            <a:off x="628650" y="1369219"/>
            <a:ext cx="7886700" cy="3075190"/>
          </a:xfrm>
          <a:prstGeom prst="rect">
            <a:avLst/>
          </a:prstGeom>
        </p:spPr>
        <p:txBody>
          <a:bodyPr vert="horz" lIns="91440" tIns="45720" rIns="91440" bIns="45720" rtlCol="0">
            <a:normAutofit/>
          </a:bodyPr>
          <a:lstStyle>
            <a:lvl1pPr>
              <a:defRPr sz="2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text</a:t>
            </a:r>
            <a:endParaRPr lang="en-AU" dirty="0"/>
          </a:p>
        </p:txBody>
      </p:sp>
      <p:sp>
        <p:nvSpPr>
          <p:cNvPr id="7" name="Footer Placeholder 4">
            <a:extLst>
              <a:ext uri="{FF2B5EF4-FFF2-40B4-BE49-F238E27FC236}">
                <a16:creationId xmlns:a16="http://schemas.microsoft.com/office/drawing/2014/main" id="{7B171D2B-0E84-B3B3-937A-E086C8FF84C5}"/>
              </a:ext>
            </a:extLst>
          </p:cNvPr>
          <p:cNvSpPr>
            <a:spLocks noGrp="1"/>
          </p:cNvSpPr>
          <p:nvPr>
            <p:ph type="ftr" sz="quarter" idx="3"/>
          </p:nvPr>
        </p:nvSpPr>
        <p:spPr>
          <a:xfrm>
            <a:off x="628650" y="4767263"/>
            <a:ext cx="3086100" cy="273844"/>
          </a:xfrm>
          <a:prstGeom prst="rect">
            <a:avLst/>
          </a:prstGeom>
        </p:spPr>
        <p:txBody>
          <a:bodyPr vert="horz" lIns="91440" tIns="45720" rIns="91440" bIns="45720" rtlCol="0" anchor="ctr"/>
          <a:lstStyle>
            <a:lvl1pPr algn="l">
              <a:defRPr sz="900">
                <a:solidFill>
                  <a:schemeClr val="bg1"/>
                </a:solidFill>
                <a:latin typeface="Arial" panose="020B0604020202020204" pitchFamily="34" charset="0"/>
                <a:cs typeface="Arial" panose="020B0604020202020204" pitchFamily="34" charset="0"/>
              </a:defRPr>
            </a:lvl1pPr>
          </a:lstStyle>
          <a:p>
            <a:r>
              <a:rPr lang="en-AU" dirty="0"/>
              <a:t>Footer</a:t>
            </a:r>
          </a:p>
        </p:txBody>
      </p:sp>
      <p:sp>
        <p:nvSpPr>
          <p:cNvPr id="8" name="Slide Number Placeholder 5">
            <a:extLst>
              <a:ext uri="{FF2B5EF4-FFF2-40B4-BE49-F238E27FC236}">
                <a16:creationId xmlns:a16="http://schemas.microsoft.com/office/drawing/2014/main" id="{F8EE4198-1386-93C0-9444-E55F9737C0DE}"/>
              </a:ext>
            </a:extLst>
          </p:cNvPr>
          <p:cNvSpPr>
            <a:spLocks noGrp="1"/>
          </p:cNvSpPr>
          <p:nvPr>
            <p:ph type="sldNum" sz="quarter" idx="4"/>
          </p:nvPr>
        </p:nvSpPr>
        <p:spPr>
          <a:xfrm>
            <a:off x="101009" y="4767263"/>
            <a:ext cx="417816" cy="273844"/>
          </a:xfrm>
          <a:prstGeom prst="rect">
            <a:avLst/>
          </a:prstGeom>
        </p:spPr>
        <p:txBody>
          <a:bodyPr vert="horz" lIns="91440" tIns="45720" rIns="91440" bIns="45720" rtlCol="0" anchor="ctr"/>
          <a:lstStyle>
            <a:lvl1pPr algn="r">
              <a:defRPr sz="900">
                <a:solidFill>
                  <a:schemeClr val="bg1"/>
                </a:solidFill>
                <a:latin typeface="Arial" panose="020B0604020202020204" pitchFamily="34" charset="0"/>
                <a:cs typeface="Arial" panose="020B0604020202020204" pitchFamily="34" charset="0"/>
              </a:defRPr>
            </a:lvl1pPr>
          </a:lstStyle>
          <a:p>
            <a:fld id="{5C75888C-CBC0-4624-9DF9-0508A40329AE}" type="slidenum">
              <a:rPr lang="en-AU" smtClean="0"/>
              <a:pPr/>
              <a:t>‹#›</a:t>
            </a:fld>
            <a:endParaRPr lang="en-AU" dirty="0"/>
          </a:p>
        </p:txBody>
      </p:sp>
    </p:spTree>
    <p:extLst>
      <p:ext uri="{BB962C8B-B14F-4D97-AF65-F5344CB8AC3E}">
        <p14:creationId xmlns:p14="http://schemas.microsoft.com/office/powerpoint/2010/main" val="3293934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2 (Light)">
    <p:bg>
      <p:bgPr>
        <a:solidFill>
          <a:schemeClr val="tx1"/>
        </a:solid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9FD9E73-06EA-DB28-15BE-86703DF17749}"/>
              </a:ext>
            </a:extLst>
          </p:cNvPr>
          <p:cNvSpPr>
            <a:spLocks noGrp="1"/>
          </p:cNvSpPr>
          <p:nvPr>
            <p:ph type="title" hasCustomPrompt="1"/>
          </p:nvPr>
        </p:nvSpPr>
        <p:spPr>
          <a:xfrm>
            <a:off x="628650" y="273844"/>
            <a:ext cx="7886700" cy="730708"/>
          </a:xfrm>
          <a:prstGeom prst="rect">
            <a:avLst/>
          </a:prstGeom>
        </p:spPr>
        <p:txBody>
          <a:bodyPr vert="horz" lIns="91440" tIns="45720" rIns="91440" bIns="45720" rtlCol="0" anchor="ctr">
            <a:normAutofit/>
          </a:bodyPr>
          <a:lstStyle>
            <a:lvl1pPr>
              <a:defRPr>
                <a:solidFill>
                  <a:schemeClr val="bg1"/>
                </a:solidFill>
              </a:defRPr>
            </a:lvl1pPr>
          </a:lstStyle>
          <a:p>
            <a:r>
              <a:rPr lang="en-US" dirty="0"/>
              <a:t>Click to edit title</a:t>
            </a:r>
            <a:endParaRPr lang="en-AU" dirty="0"/>
          </a:p>
        </p:txBody>
      </p:sp>
      <p:sp>
        <p:nvSpPr>
          <p:cNvPr id="6" name="Text Placeholder 2">
            <a:extLst>
              <a:ext uri="{FF2B5EF4-FFF2-40B4-BE49-F238E27FC236}">
                <a16:creationId xmlns:a16="http://schemas.microsoft.com/office/drawing/2014/main" id="{D89C4591-D913-8883-D238-89D878FB8728}"/>
              </a:ext>
            </a:extLst>
          </p:cNvPr>
          <p:cNvSpPr>
            <a:spLocks noGrp="1"/>
          </p:cNvSpPr>
          <p:nvPr>
            <p:ph idx="1" hasCustomPrompt="1"/>
          </p:nvPr>
        </p:nvSpPr>
        <p:spPr>
          <a:xfrm>
            <a:off x="628650" y="1369219"/>
            <a:ext cx="3799767" cy="3075190"/>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text</a:t>
            </a:r>
            <a:endParaRPr lang="en-AU" dirty="0"/>
          </a:p>
        </p:txBody>
      </p:sp>
      <p:sp>
        <p:nvSpPr>
          <p:cNvPr id="7" name="Footer Placeholder 4">
            <a:extLst>
              <a:ext uri="{FF2B5EF4-FFF2-40B4-BE49-F238E27FC236}">
                <a16:creationId xmlns:a16="http://schemas.microsoft.com/office/drawing/2014/main" id="{7B171D2B-0E84-B3B3-937A-E086C8FF84C5}"/>
              </a:ext>
            </a:extLst>
          </p:cNvPr>
          <p:cNvSpPr>
            <a:spLocks noGrp="1"/>
          </p:cNvSpPr>
          <p:nvPr>
            <p:ph type="ftr" sz="quarter" idx="3"/>
          </p:nvPr>
        </p:nvSpPr>
        <p:spPr>
          <a:xfrm>
            <a:off x="628650" y="4767263"/>
            <a:ext cx="3086100" cy="273844"/>
          </a:xfrm>
          <a:prstGeom prst="rect">
            <a:avLst/>
          </a:prstGeom>
        </p:spPr>
        <p:txBody>
          <a:bodyPr vert="horz" lIns="91440" tIns="45720" rIns="91440" bIns="45720" rtlCol="0" anchor="ctr"/>
          <a:lstStyle>
            <a:lvl1pPr algn="l">
              <a:defRPr sz="900">
                <a:solidFill>
                  <a:schemeClr val="bg1"/>
                </a:solidFill>
                <a:latin typeface="Arial" panose="020B0604020202020204" pitchFamily="34" charset="0"/>
                <a:cs typeface="Arial" panose="020B0604020202020204" pitchFamily="34" charset="0"/>
              </a:defRPr>
            </a:lvl1pPr>
          </a:lstStyle>
          <a:p>
            <a:r>
              <a:rPr lang="en-AU" dirty="0"/>
              <a:t>Footer</a:t>
            </a:r>
          </a:p>
        </p:txBody>
      </p:sp>
      <p:sp>
        <p:nvSpPr>
          <p:cNvPr id="8" name="Slide Number Placeholder 5">
            <a:extLst>
              <a:ext uri="{FF2B5EF4-FFF2-40B4-BE49-F238E27FC236}">
                <a16:creationId xmlns:a16="http://schemas.microsoft.com/office/drawing/2014/main" id="{F8EE4198-1386-93C0-9444-E55F9737C0DE}"/>
              </a:ext>
            </a:extLst>
          </p:cNvPr>
          <p:cNvSpPr>
            <a:spLocks noGrp="1"/>
          </p:cNvSpPr>
          <p:nvPr>
            <p:ph type="sldNum" sz="quarter" idx="4"/>
          </p:nvPr>
        </p:nvSpPr>
        <p:spPr>
          <a:xfrm>
            <a:off x="101009" y="4767263"/>
            <a:ext cx="417816" cy="273844"/>
          </a:xfrm>
          <a:prstGeom prst="rect">
            <a:avLst/>
          </a:prstGeom>
        </p:spPr>
        <p:txBody>
          <a:bodyPr vert="horz" lIns="91440" tIns="45720" rIns="91440" bIns="45720" rtlCol="0" anchor="ctr"/>
          <a:lstStyle>
            <a:lvl1pPr algn="r">
              <a:defRPr sz="900">
                <a:solidFill>
                  <a:schemeClr val="bg1"/>
                </a:solidFill>
                <a:latin typeface="Arial" panose="020B0604020202020204" pitchFamily="34" charset="0"/>
                <a:cs typeface="Arial" panose="020B0604020202020204" pitchFamily="34" charset="0"/>
              </a:defRPr>
            </a:lvl1pPr>
          </a:lstStyle>
          <a:p>
            <a:fld id="{5C75888C-CBC0-4624-9DF9-0508A40329AE}" type="slidenum">
              <a:rPr lang="en-AU" smtClean="0"/>
              <a:pPr/>
              <a:t>‹#›</a:t>
            </a:fld>
            <a:endParaRPr lang="en-AU" dirty="0"/>
          </a:p>
        </p:txBody>
      </p:sp>
      <p:sp>
        <p:nvSpPr>
          <p:cNvPr id="2" name="Text Placeholder 2">
            <a:extLst>
              <a:ext uri="{FF2B5EF4-FFF2-40B4-BE49-F238E27FC236}">
                <a16:creationId xmlns:a16="http://schemas.microsoft.com/office/drawing/2014/main" id="{0169CB29-8FE0-B18F-559B-6BDF0DA91CED}"/>
              </a:ext>
            </a:extLst>
          </p:cNvPr>
          <p:cNvSpPr>
            <a:spLocks noGrp="1"/>
          </p:cNvSpPr>
          <p:nvPr>
            <p:ph idx="10" hasCustomPrompt="1"/>
          </p:nvPr>
        </p:nvSpPr>
        <p:spPr>
          <a:xfrm>
            <a:off x="4715585" y="1369219"/>
            <a:ext cx="3799767" cy="3075190"/>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text</a:t>
            </a:r>
            <a:endParaRPr lang="en-AU" dirty="0"/>
          </a:p>
        </p:txBody>
      </p:sp>
    </p:spTree>
    <p:extLst>
      <p:ext uri="{BB962C8B-B14F-4D97-AF65-F5344CB8AC3E}">
        <p14:creationId xmlns:p14="http://schemas.microsoft.com/office/powerpoint/2010/main" val="126346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itle and Content 3 (Ligh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F952-7C6E-D2D8-AB0A-0004215E1D21}"/>
              </a:ext>
            </a:extLst>
          </p:cNvPr>
          <p:cNvSpPr>
            <a:spLocks noGrp="1"/>
          </p:cNvSpPr>
          <p:nvPr>
            <p:ph type="title" hasCustomPrompt="1"/>
          </p:nvPr>
        </p:nvSpPr>
        <p:spPr>
          <a:xfrm>
            <a:off x="629841" y="342900"/>
            <a:ext cx="2949178" cy="1200150"/>
          </a:xfrm>
        </p:spPr>
        <p:txBody>
          <a:bodyPr anchor="b">
            <a:normAutofit/>
          </a:bodyPr>
          <a:lstStyle>
            <a:lvl1pPr>
              <a:defRPr sz="2800">
                <a:solidFill>
                  <a:schemeClr val="bg1"/>
                </a:solidFill>
              </a:defRPr>
            </a:lvl1pPr>
          </a:lstStyle>
          <a:p>
            <a:r>
              <a:rPr lang="en-US" dirty="0"/>
              <a:t>Click to edit title</a:t>
            </a:r>
            <a:endParaRPr lang="en-AU" dirty="0"/>
          </a:p>
        </p:txBody>
      </p:sp>
      <p:sp>
        <p:nvSpPr>
          <p:cNvPr id="3" name="Content Placeholder 2">
            <a:extLst>
              <a:ext uri="{FF2B5EF4-FFF2-40B4-BE49-F238E27FC236}">
                <a16:creationId xmlns:a16="http://schemas.microsoft.com/office/drawing/2014/main" id="{06AF7C71-0C15-971C-97C2-ACA5AFA23021}"/>
              </a:ext>
            </a:extLst>
          </p:cNvPr>
          <p:cNvSpPr>
            <a:spLocks noGrp="1"/>
          </p:cNvSpPr>
          <p:nvPr>
            <p:ph idx="1" hasCustomPrompt="1"/>
          </p:nvPr>
        </p:nvSpPr>
        <p:spPr>
          <a:xfrm>
            <a:off x="3887391" y="740569"/>
            <a:ext cx="4629150" cy="3655219"/>
          </a:xfrm>
        </p:spPr>
        <p:txBody>
          <a:bodyPr/>
          <a:lstStyle>
            <a:lvl1pPr>
              <a:defRPr sz="2000">
                <a:solidFill>
                  <a:schemeClr val="bg1"/>
                </a:solidFill>
              </a:defRPr>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text</a:t>
            </a:r>
            <a:endParaRPr lang="en-AU" dirty="0"/>
          </a:p>
        </p:txBody>
      </p:sp>
      <p:sp>
        <p:nvSpPr>
          <p:cNvPr id="4" name="Text Placeholder 3">
            <a:extLst>
              <a:ext uri="{FF2B5EF4-FFF2-40B4-BE49-F238E27FC236}">
                <a16:creationId xmlns:a16="http://schemas.microsoft.com/office/drawing/2014/main" id="{EB727E40-51A3-23C4-E516-E1ECA1C06E8D}"/>
              </a:ext>
            </a:extLst>
          </p:cNvPr>
          <p:cNvSpPr>
            <a:spLocks noGrp="1"/>
          </p:cNvSpPr>
          <p:nvPr>
            <p:ph type="body" sz="half" idx="2" hasCustomPrompt="1"/>
          </p:nvPr>
        </p:nvSpPr>
        <p:spPr>
          <a:xfrm>
            <a:off x="629841" y="1543050"/>
            <a:ext cx="2949178" cy="2858691"/>
          </a:xfrm>
        </p:spPr>
        <p:txBody>
          <a:bodyPr/>
          <a:lstStyle>
            <a:lvl1pPr marL="0" indent="0">
              <a:buNone/>
              <a:defRPr sz="12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text</a:t>
            </a:r>
          </a:p>
        </p:txBody>
      </p:sp>
      <p:sp>
        <p:nvSpPr>
          <p:cNvPr id="8" name="Footer Placeholder 4">
            <a:extLst>
              <a:ext uri="{FF2B5EF4-FFF2-40B4-BE49-F238E27FC236}">
                <a16:creationId xmlns:a16="http://schemas.microsoft.com/office/drawing/2014/main" id="{60DBF88D-0F93-D5F1-39A5-5E6AEA64DD58}"/>
              </a:ext>
            </a:extLst>
          </p:cNvPr>
          <p:cNvSpPr>
            <a:spLocks noGrp="1"/>
          </p:cNvSpPr>
          <p:nvPr>
            <p:ph type="ftr" sz="quarter" idx="3"/>
          </p:nvPr>
        </p:nvSpPr>
        <p:spPr>
          <a:xfrm>
            <a:off x="628650" y="4767263"/>
            <a:ext cx="3086100" cy="273844"/>
          </a:xfrm>
          <a:prstGeom prst="rect">
            <a:avLst/>
          </a:prstGeom>
        </p:spPr>
        <p:txBody>
          <a:bodyPr vert="horz" lIns="91440" tIns="45720" rIns="91440" bIns="45720" rtlCol="0" anchor="ctr"/>
          <a:lstStyle>
            <a:lvl1pPr algn="l">
              <a:defRPr sz="900">
                <a:solidFill>
                  <a:schemeClr val="bg1"/>
                </a:solidFill>
                <a:latin typeface="Arial" panose="020B0604020202020204" pitchFamily="34" charset="0"/>
                <a:cs typeface="Arial" panose="020B0604020202020204" pitchFamily="34" charset="0"/>
              </a:defRPr>
            </a:lvl1pPr>
          </a:lstStyle>
          <a:p>
            <a:r>
              <a:rPr lang="en-AU"/>
              <a:t>Footer</a:t>
            </a:r>
            <a:endParaRPr lang="en-AU" dirty="0"/>
          </a:p>
        </p:txBody>
      </p:sp>
      <p:sp>
        <p:nvSpPr>
          <p:cNvPr id="9" name="Slide Number Placeholder 5">
            <a:extLst>
              <a:ext uri="{FF2B5EF4-FFF2-40B4-BE49-F238E27FC236}">
                <a16:creationId xmlns:a16="http://schemas.microsoft.com/office/drawing/2014/main" id="{A2F3F107-5088-0B64-8766-EF67AE52796F}"/>
              </a:ext>
            </a:extLst>
          </p:cNvPr>
          <p:cNvSpPr>
            <a:spLocks noGrp="1"/>
          </p:cNvSpPr>
          <p:nvPr>
            <p:ph type="sldNum" sz="quarter" idx="4"/>
          </p:nvPr>
        </p:nvSpPr>
        <p:spPr>
          <a:xfrm>
            <a:off x="101009" y="4767263"/>
            <a:ext cx="417816" cy="273844"/>
          </a:xfrm>
          <a:prstGeom prst="rect">
            <a:avLst/>
          </a:prstGeom>
        </p:spPr>
        <p:txBody>
          <a:bodyPr vert="horz" lIns="91440" tIns="45720" rIns="91440" bIns="45720" rtlCol="0" anchor="ctr"/>
          <a:lstStyle>
            <a:lvl1pPr algn="r">
              <a:defRPr sz="900">
                <a:solidFill>
                  <a:schemeClr val="bg1"/>
                </a:solidFill>
                <a:latin typeface="Arial" panose="020B0604020202020204" pitchFamily="34" charset="0"/>
                <a:cs typeface="Arial" panose="020B0604020202020204" pitchFamily="34" charset="0"/>
              </a:defRPr>
            </a:lvl1pPr>
          </a:lstStyle>
          <a:p>
            <a:fld id="{5C75888C-CBC0-4624-9DF9-0508A40329AE}" type="slidenum">
              <a:rPr lang="en-AU" smtClean="0"/>
              <a:pPr/>
              <a:t>‹#›</a:t>
            </a:fld>
            <a:endParaRPr lang="en-AU" dirty="0"/>
          </a:p>
        </p:txBody>
      </p:sp>
    </p:spTree>
    <p:extLst>
      <p:ext uri="{BB962C8B-B14F-4D97-AF65-F5344CB8AC3E}">
        <p14:creationId xmlns:p14="http://schemas.microsoft.com/office/powerpoint/2010/main" val="2142485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1 (Dark)">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9FD9E73-06EA-DB28-15BE-86703DF17749}"/>
              </a:ext>
            </a:extLst>
          </p:cNvPr>
          <p:cNvSpPr>
            <a:spLocks noGrp="1"/>
          </p:cNvSpPr>
          <p:nvPr>
            <p:ph type="title" hasCustomPrompt="1"/>
          </p:nvPr>
        </p:nvSpPr>
        <p:spPr>
          <a:xfrm>
            <a:off x="628650" y="273844"/>
            <a:ext cx="7886700" cy="730708"/>
          </a:xfrm>
          <a:prstGeom prst="rect">
            <a:avLst/>
          </a:prstGeom>
        </p:spPr>
        <p:txBody>
          <a:bodyPr vert="horz" lIns="91440" tIns="45720" rIns="91440" bIns="45720" rtlCol="0" anchor="ctr">
            <a:normAutofit/>
          </a:bodyPr>
          <a:lstStyle/>
          <a:p>
            <a:r>
              <a:rPr lang="en-US" dirty="0"/>
              <a:t>Click to edit title</a:t>
            </a:r>
            <a:endParaRPr lang="en-AU" dirty="0"/>
          </a:p>
        </p:txBody>
      </p:sp>
      <p:sp>
        <p:nvSpPr>
          <p:cNvPr id="7" name="Footer Placeholder 4">
            <a:extLst>
              <a:ext uri="{FF2B5EF4-FFF2-40B4-BE49-F238E27FC236}">
                <a16:creationId xmlns:a16="http://schemas.microsoft.com/office/drawing/2014/main" id="{7B171D2B-0E84-B3B3-937A-E086C8FF84C5}"/>
              </a:ext>
            </a:extLst>
          </p:cNvPr>
          <p:cNvSpPr>
            <a:spLocks noGrp="1"/>
          </p:cNvSpPr>
          <p:nvPr>
            <p:ph type="ftr" sz="quarter" idx="3"/>
          </p:nvPr>
        </p:nvSpPr>
        <p:spPr>
          <a:xfrm>
            <a:off x="628650" y="4767263"/>
            <a:ext cx="3086100" cy="273844"/>
          </a:xfrm>
          <a:prstGeom prst="rect">
            <a:avLst/>
          </a:prstGeom>
        </p:spPr>
        <p:txBody>
          <a:bodyPr vert="horz" lIns="91440" tIns="45720" rIns="91440" bIns="45720" rtlCol="0" anchor="ctr"/>
          <a:lstStyle>
            <a:lvl1pPr algn="l">
              <a:defRPr sz="900">
                <a:solidFill>
                  <a:schemeClr val="tx1">
                    <a:tint val="82000"/>
                  </a:schemeClr>
                </a:solidFill>
                <a:latin typeface="Arial" panose="020B0604020202020204" pitchFamily="34" charset="0"/>
                <a:cs typeface="Arial" panose="020B0604020202020204" pitchFamily="34" charset="0"/>
              </a:defRPr>
            </a:lvl1pPr>
          </a:lstStyle>
          <a:p>
            <a:r>
              <a:rPr lang="en-AU" dirty="0"/>
              <a:t>Footer</a:t>
            </a:r>
          </a:p>
        </p:txBody>
      </p:sp>
      <p:sp>
        <p:nvSpPr>
          <p:cNvPr id="8" name="Slide Number Placeholder 5">
            <a:extLst>
              <a:ext uri="{FF2B5EF4-FFF2-40B4-BE49-F238E27FC236}">
                <a16:creationId xmlns:a16="http://schemas.microsoft.com/office/drawing/2014/main" id="{F8EE4198-1386-93C0-9444-E55F9737C0DE}"/>
              </a:ext>
            </a:extLst>
          </p:cNvPr>
          <p:cNvSpPr>
            <a:spLocks noGrp="1"/>
          </p:cNvSpPr>
          <p:nvPr>
            <p:ph type="sldNum" sz="quarter" idx="4"/>
          </p:nvPr>
        </p:nvSpPr>
        <p:spPr>
          <a:xfrm>
            <a:off x="101009" y="4767263"/>
            <a:ext cx="417816" cy="273844"/>
          </a:xfrm>
          <a:prstGeom prst="rect">
            <a:avLst/>
          </a:prstGeom>
        </p:spPr>
        <p:txBody>
          <a:bodyPr vert="horz" lIns="91440" tIns="45720" rIns="91440" bIns="45720" rtlCol="0" anchor="ctr"/>
          <a:lstStyle>
            <a:lvl1pPr algn="r">
              <a:defRPr sz="900">
                <a:solidFill>
                  <a:schemeClr val="tx1">
                    <a:tint val="82000"/>
                  </a:schemeClr>
                </a:solidFill>
                <a:latin typeface="Arial" panose="020B0604020202020204" pitchFamily="34" charset="0"/>
                <a:cs typeface="Arial" panose="020B0604020202020204" pitchFamily="34" charset="0"/>
              </a:defRPr>
            </a:lvl1pPr>
          </a:lstStyle>
          <a:p>
            <a:fld id="{5C75888C-CBC0-4624-9DF9-0508A40329AE}" type="slidenum">
              <a:rPr lang="en-AU" smtClean="0"/>
              <a:pPr/>
              <a:t>‹#›</a:t>
            </a:fld>
            <a:endParaRPr lang="en-AU" dirty="0"/>
          </a:p>
        </p:txBody>
      </p:sp>
      <p:sp>
        <p:nvSpPr>
          <p:cNvPr id="10" name="Text Placeholder 2">
            <a:extLst>
              <a:ext uri="{FF2B5EF4-FFF2-40B4-BE49-F238E27FC236}">
                <a16:creationId xmlns:a16="http://schemas.microsoft.com/office/drawing/2014/main" id="{43A1542B-37B5-F637-E3D9-806EA7866F47}"/>
              </a:ext>
            </a:extLst>
          </p:cNvPr>
          <p:cNvSpPr>
            <a:spLocks noGrp="1"/>
          </p:cNvSpPr>
          <p:nvPr>
            <p:ph idx="1" hasCustomPrompt="1"/>
          </p:nvPr>
        </p:nvSpPr>
        <p:spPr>
          <a:xfrm>
            <a:off x="628650" y="1369219"/>
            <a:ext cx="7886700" cy="3075190"/>
          </a:xfrm>
          <a:prstGeom prst="rect">
            <a:avLst/>
          </a:prstGeom>
        </p:spPr>
        <p:txBody>
          <a:bodyPr vert="horz" lIns="91440" tIns="45720" rIns="91440" bIns="45720" rtlCol="0">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text</a:t>
            </a:r>
            <a:endParaRPr lang="en-AU" dirty="0"/>
          </a:p>
        </p:txBody>
      </p:sp>
    </p:spTree>
    <p:extLst>
      <p:ext uri="{BB962C8B-B14F-4D97-AF65-F5344CB8AC3E}">
        <p14:creationId xmlns:p14="http://schemas.microsoft.com/office/powerpoint/2010/main" val="2540435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2 (Dark)">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B9FD9E73-06EA-DB28-15BE-86703DF17749}"/>
              </a:ext>
            </a:extLst>
          </p:cNvPr>
          <p:cNvSpPr>
            <a:spLocks noGrp="1"/>
          </p:cNvSpPr>
          <p:nvPr>
            <p:ph type="title" hasCustomPrompt="1"/>
          </p:nvPr>
        </p:nvSpPr>
        <p:spPr>
          <a:xfrm>
            <a:off x="628650" y="273844"/>
            <a:ext cx="7886700" cy="730708"/>
          </a:xfrm>
          <a:prstGeom prst="rect">
            <a:avLst/>
          </a:prstGeom>
        </p:spPr>
        <p:txBody>
          <a:bodyPr vert="horz" lIns="91440" tIns="45720" rIns="91440" bIns="45720" rtlCol="0" anchor="ctr">
            <a:normAutofit/>
          </a:bodyPr>
          <a:lstStyle/>
          <a:p>
            <a:r>
              <a:rPr lang="en-US" dirty="0"/>
              <a:t>Click to edit title</a:t>
            </a:r>
            <a:endParaRPr lang="en-AU" dirty="0"/>
          </a:p>
        </p:txBody>
      </p:sp>
      <p:sp>
        <p:nvSpPr>
          <p:cNvPr id="7" name="Footer Placeholder 4">
            <a:extLst>
              <a:ext uri="{FF2B5EF4-FFF2-40B4-BE49-F238E27FC236}">
                <a16:creationId xmlns:a16="http://schemas.microsoft.com/office/drawing/2014/main" id="{7B171D2B-0E84-B3B3-937A-E086C8FF84C5}"/>
              </a:ext>
            </a:extLst>
          </p:cNvPr>
          <p:cNvSpPr>
            <a:spLocks noGrp="1"/>
          </p:cNvSpPr>
          <p:nvPr>
            <p:ph type="ftr" sz="quarter" idx="3"/>
          </p:nvPr>
        </p:nvSpPr>
        <p:spPr>
          <a:xfrm>
            <a:off x="628650" y="4767263"/>
            <a:ext cx="3086100" cy="273844"/>
          </a:xfrm>
          <a:prstGeom prst="rect">
            <a:avLst/>
          </a:prstGeom>
        </p:spPr>
        <p:txBody>
          <a:bodyPr vert="horz" lIns="91440" tIns="45720" rIns="91440" bIns="45720" rtlCol="0" anchor="ctr"/>
          <a:lstStyle>
            <a:lvl1pPr algn="l">
              <a:defRPr sz="900">
                <a:solidFill>
                  <a:schemeClr val="tx1">
                    <a:tint val="82000"/>
                  </a:schemeClr>
                </a:solidFill>
                <a:latin typeface="Arial" panose="020B0604020202020204" pitchFamily="34" charset="0"/>
                <a:cs typeface="Arial" panose="020B0604020202020204" pitchFamily="34" charset="0"/>
              </a:defRPr>
            </a:lvl1pPr>
          </a:lstStyle>
          <a:p>
            <a:r>
              <a:rPr lang="en-AU" dirty="0"/>
              <a:t>Footer</a:t>
            </a:r>
          </a:p>
        </p:txBody>
      </p:sp>
      <p:sp>
        <p:nvSpPr>
          <p:cNvPr id="8" name="Slide Number Placeholder 5">
            <a:extLst>
              <a:ext uri="{FF2B5EF4-FFF2-40B4-BE49-F238E27FC236}">
                <a16:creationId xmlns:a16="http://schemas.microsoft.com/office/drawing/2014/main" id="{F8EE4198-1386-93C0-9444-E55F9737C0DE}"/>
              </a:ext>
            </a:extLst>
          </p:cNvPr>
          <p:cNvSpPr>
            <a:spLocks noGrp="1"/>
          </p:cNvSpPr>
          <p:nvPr>
            <p:ph type="sldNum" sz="quarter" idx="4"/>
          </p:nvPr>
        </p:nvSpPr>
        <p:spPr>
          <a:xfrm>
            <a:off x="101009" y="4767263"/>
            <a:ext cx="417816" cy="273844"/>
          </a:xfrm>
          <a:prstGeom prst="rect">
            <a:avLst/>
          </a:prstGeom>
        </p:spPr>
        <p:txBody>
          <a:bodyPr vert="horz" lIns="91440" tIns="45720" rIns="91440" bIns="45720" rtlCol="0" anchor="ctr"/>
          <a:lstStyle>
            <a:lvl1pPr algn="r">
              <a:defRPr sz="900">
                <a:solidFill>
                  <a:schemeClr val="tx1">
                    <a:tint val="82000"/>
                  </a:schemeClr>
                </a:solidFill>
                <a:latin typeface="Arial" panose="020B0604020202020204" pitchFamily="34" charset="0"/>
                <a:cs typeface="Arial" panose="020B0604020202020204" pitchFamily="34" charset="0"/>
              </a:defRPr>
            </a:lvl1pPr>
          </a:lstStyle>
          <a:p>
            <a:fld id="{5C75888C-CBC0-4624-9DF9-0508A40329AE}" type="slidenum">
              <a:rPr lang="en-AU" smtClean="0"/>
              <a:pPr/>
              <a:t>‹#›</a:t>
            </a:fld>
            <a:endParaRPr lang="en-AU" dirty="0"/>
          </a:p>
        </p:txBody>
      </p:sp>
      <p:sp>
        <p:nvSpPr>
          <p:cNvPr id="2" name="Text Placeholder 2">
            <a:extLst>
              <a:ext uri="{FF2B5EF4-FFF2-40B4-BE49-F238E27FC236}">
                <a16:creationId xmlns:a16="http://schemas.microsoft.com/office/drawing/2014/main" id="{E51AAD7E-1D22-B6DD-6F9D-EAF29B840142}"/>
              </a:ext>
            </a:extLst>
          </p:cNvPr>
          <p:cNvSpPr>
            <a:spLocks noGrp="1"/>
          </p:cNvSpPr>
          <p:nvPr>
            <p:ph idx="1" hasCustomPrompt="1"/>
          </p:nvPr>
        </p:nvSpPr>
        <p:spPr>
          <a:xfrm>
            <a:off x="628650" y="1369219"/>
            <a:ext cx="3799767" cy="3075190"/>
          </a:xfrm>
          <a:prstGeom prst="rect">
            <a:avLst/>
          </a:prstGeom>
        </p:spPr>
        <p:txBody>
          <a:bodyPr vert="horz" lIns="91440" tIns="45720" rIns="91440" bIns="45720" rtlCol="0">
            <a:normAutofit/>
          </a:bodyP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text</a:t>
            </a:r>
            <a:endParaRPr lang="en-AU" dirty="0"/>
          </a:p>
        </p:txBody>
      </p:sp>
      <p:sp>
        <p:nvSpPr>
          <p:cNvPr id="3" name="Text Placeholder 2">
            <a:extLst>
              <a:ext uri="{FF2B5EF4-FFF2-40B4-BE49-F238E27FC236}">
                <a16:creationId xmlns:a16="http://schemas.microsoft.com/office/drawing/2014/main" id="{D5EE35C0-3268-0CA3-38D2-564A24DA390F}"/>
              </a:ext>
            </a:extLst>
          </p:cNvPr>
          <p:cNvSpPr>
            <a:spLocks noGrp="1"/>
          </p:cNvSpPr>
          <p:nvPr>
            <p:ph idx="10" hasCustomPrompt="1"/>
          </p:nvPr>
        </p:nvSpPr>
        <p:spPr>
          <a:xfrm>
            <a:off x="4715585" y="1369219"/>
            <a:ext cx="3799767" cy="3075190"/>
          </a:xfrm>
          <a:prstGeom prst="rect">
            <a:avLst/>
          </a:prstGeom>
        </p:spPr>
        <p:txBody>
          <a:bodyPr vert="horz" lIns="91440" tIns="45720" rIns="91440" bIns="45720" rtlCol="0">
            <a:normAutofit/>
          </a:bodyP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text</a:t>
            </a:r>
            <a:endParaRPr lang="en-AU" dirty="0"/>
          </a:p>
        </p:txBody>
      </p:sp>
    </p:spTree>
    <p:extLst>
      <p:ext uri="{BB962C8B-B14F-4D97-AF65-F5344CB8AC3E}">
        <p14:creationId xmlns:p14="http://schemas.microsoft.com/office/powerpoint/2010/main" val="2922634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Title and Content 3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F952-7C6E-D2D8-AB0A-0004215E1D21}"/>
              </a:ext>
            </a:extLst>
          </p:cNvPr>
          <p:cNvSpPr>
            <a:spLocks noGrp="1"/>
          </p:cNvSpPr>
          <p:nvPr>
            <p:ph type="title" hasCustomPrompt="1"/>
          </p:nvPr>
        </p:nvSpPr>
        <p:spPr>
          <a:xfrm>
            <a:off x="629841" y="342900"/>
            <a:ext cx="2949178" cy="1200150"/>
          </a:xfrm>
        </p:spPr>
        <p:txBody>
          <a:bodyPr anchor="b">
            <a:normAutofit/>
          </a:bodyPr>
          <a:lstStyle>
            <a:lvl1pPr>
              <a:defRPr sz="2800"/>
            </a:lvl1pPr>
          </a:lstStyle>
          <a:p>
            <a:r>
              <a:rPr lang="en-US" dirty="0"/>
              <a:t>Click to edit title</a:t>
            </a:r>
            <a:endParaRPr lang="en-AU" dirty="0"/>
          </a:p>
        </p:txBody>
      </p:sp>
      <p:sp>
        <p:nvSpPr>
          <p:cNvPr id="3" name="Content Placeholder 2">
            <a:extLst>
              <a:ext uri="{FF2B5EF4-FFF2-40B4-BE49-F238E27FC236}">
                <a16:creationId xmlns:a16="http://schemas.microsoft.com/office/drawing/2014/main" id="{06AF7C71-0C15-971C-97C2-ACA5AFA23021}"/>
              </a:ext>
            </a:extLst>
          </p:cNvPr>
          <p:cNvSpPr>
            <a:spLocks noGrp="1"/>
          </p:cNvSpPr>
          <p:nvPr>
            <p:ph idx="1" hasCustomPrompt="1"/>
          </p:nvPr>
        </p:nvSpPr>
        <p:spPr>
          <a:xfrm>
            <a:off x="3887391" y="740569"/>
            <a:ext cx="4629150" cy="3655219"/>
          </a:xfrm>
        </p:spPr>
        <p:txBody>
          <a:bodyPr/>
          <a:lstStyle>
            <a:lvl1pPr>
              <a:defRPr sz="20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text</a:t>
            </a:r>
            <a:endParaRPr lang="en-AU" dirty="0"/>
          </a:p>
        </p:txBody>
      </p:sp>
      <p:sp>
        <p:nvSpPr>
          <p:cNvPr id="4" name="Text Placeholder 3">
            <a:extLst>
              <a:ext uri="{FF2B5EF4-FFF2-40B4-BE49-F238E27FC236}">
                <a16:creationId xmlns:a16="http://schemas.microsoft.com/office/drawing/2014/main" id="{EB727E40-51A3-23C4-E516-E1ECA1C06E8D}"/>
              </a:ext>
            </a:extLst>
          </p:cNvPr>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text</a:t>
            </a:r>
          </a:p>
        </p:txBody>
      </p:sp>
      <p:sp>
        <p:nvSpPr>
          <p:cNvPr id="8" name="Footer Placeholder 4">
            <a:extLst>
              <a:ext uri="{FF2B5EF4-FFF2-40B4-BE49-F238E27FC236}">
                <a16:creationId xmlns:a16="http://schemas.microsoft.com/office/drawing/2014/main" id="{60DBF88D-0F93-D5F1-39A5-5E6AEA64DD58}"/>
              </a:ext>
            </a:extLst>
          </p:cNvPr>
          <p:cNvSpPr>
            <a:spLocks noGrp="1"/>
          </p:cNvSpPr>
          <p:nvPr>
            <p:ph type="ftr" sz="quarter" idx="3"/>
          </p:nvPr>
        </p:nvSpPr>
        <p:spPr>
          <a:xfrm>
            <a:off x="628650" y="4767263"/>
            <a:ext cx="3086100" cy="273844"/>
          </a:xfrm>
          <a:prstGeom prst="rect">
            <a:avLst/>
          </a:prstGeom>
        </p:spPr>
        <p:txBody>
          <a:bodyPr vert="horz" lIns="91440" tIns="45720" rIns="91440" bIns="45720" rtlCol="0" anchor="ctr"/>
          <a:lstStyle>
            <a:lvl1pPr algn="l">
              <a:defRPr sz="900">
                <a:solidFill>
                  <a:schemeClr val="tx1">
                    <a:tint val="82000"/>
                  </a:schemeClr>
                </a:solidFill>
                <a:latin typeface="Arial" panose="020B0604020202020204" pitchFamily="34" charset="0"/>
                <a:cs typeface="Arial" panose="020B0604020202020204" pitchFamily="34" charset="0"/>
              </a:defRPr>
            </a:lvl1pPr>
          </a:lstStyle>
          <a:p>
            <a:r>
              <a:rPr lang="en-AU" dirty="0"/>
              <a:t>Footer</a:t>
            </a:r>
          </a:p>
        </p:txBody>
      </p:sp>
      <p:sp>
        <p:nvSpPr>
          <p:cNvPr id="9" name="Slide Number Placeholder 5">
            <a:extLst>
              <a:ext uri="{FF2B5EF4-FFF2-40B4-BE49-F238E27FC236}">
                <a16:creationId xmlns:a16="http://schemas.microsoft.com/office/drawing/2014/main" id="{A2F3F107-5088-0B64-8766-EF67AE52796F}"/>
              </a:ext>
            </a:extLst>
          </p:cNvPr>
          <p:cNvSpPr>
            <a:spLocks noGrp="1"/>
          </p:cNvSpPr>
          <p:nvPr>
            <p:ph type="sldNum" sz="quarter" idx="4"/>
          </p:nvPr>
        </p:nvSpPr>
        <p:spPr>
          <a:xfrm>
            <a:off x="101009" y="4767263"/>
            <a:ext cx="417816" cy="273844"/>
          </a:xfrm>
          <a:prstGeom prst="rect">
            <a:avLst/>
          </a:prstGeom>
        </p:spPr>
        <p:txBody>
          <a:bodyPr vert="horz" lIns="91440" tIns="45720" rIns="91440" bIns="45720" rtlCol="0" anchor="ctr"/>
          <a:lstStyle>
            <a:lvl1pPr algn="r">
              <a:defRPr sz="900">
                <a:solidFill>
                  <a:schemeClr val="tx1">
                    <a:tint val="82000"/>
                  </a:schemeClr>
                </a:solidFill>
                <a:latin typeface="Arial" panose="020B0604020202020204" pitchFamily="34" charset="0"/>
                <a:cs typeface="Arial" panose="020B0604020202020204" pitchFamily="34" charset="0"/>
              </a:defRPr>
            </a:lvl1pPr>
          </a:lstStyle>
          <a:p>
            <a:fld id="{5C75888C-CBC0-4624-9DF9-0508A40329AE}" type="slidenum">
              <a:rPr lang="en-AU" smtClean="0"/>
              <a:pPr/>
              <a:t>‹#›</a:t>
            </a:fld>
            <a:endParaRPr lang="en-AU" dirty="0"/>
          </a:p>
        </p:txBody>
      </p:sp>
    </p:spTree>
    <p:extLst>
      <p:ext uri="{BB962C8B-B14F-4D97-AF65-F5344CB8AC3E}">
        <p14:creationId xmlns:p14="http://schemas.microsoft.com/office/powerpoint/2010/main" val="33827186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nd slide (Dark)">
    <p:bg>
      <p:bgPr>
        <a:gradFill flip="none" rotWithShape="1">
          <a:gsLst>
            <a:gs pos="0">
              <a:srgbClr val="004386"/>
            </a:gs>
            <a:gs pos="0">
              <a:schemeClr val="bg1"/>
            </a:gs>
            <a:gs pos="10000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E0A09E00-60B6-AB67-7E8B-6F0CA16F4642}"/>
              </a:ext>
            </a:extLst>
          </p:cNvPr>
          <p:cNvSpPr>
            <a:spLocks noGrp="1"/>
          </p:cNvSpPr>
          <p:nvPr>
            <p:ph type="body" idx="10" hasCustomPrompt="1"/>
          </p:nvPr>
        </p:nvSpPr>
        <p:spPr>
          <a:xfrm>
            <a:off x="623888" y="2862208"/>
            <a:ext cx="7886700" cy="539716"/>
          </a:xfrm>
        </p:spPr>
        <p:txBody>
          <a:bodyPr/>
          <a:lstStyle>
            <a:lvl1pPr marL="0" indent="0">
              <a:buNone/>
              <a:defRPr sz="180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text</a:t>
            </a:r>
          </a:p>
        </p:txBody>
      </p:sp>
      <p:sp>
        <p:nvSpPr>
          <p:cNvPr id="9" name="Title 1">
            <a:extLst>
              <a:ext uri="{FF2B5EF4-FFF2-40B4-BE49-F238E27FC236}">
                <a16:creationId xmlns:a16="http://schemas.microsoft.com/office/drawing/2014/main" id="{52283D22-0D20-F2B3-B3B1-D2880C6C76EA}"/>
              </a:ext>
            </a:extLst>
          </p:cNvPr>
          <p:cNvSpPr>
            <a:spLocks noGrp="1"/>
          </p:cNvSpPr>
          <p:nvPr>
            <p:ph type="ctrTitle" hasCustomPrompt="1"/>
          </p:nvPr>
        </p:nvSpPr>
        <p:spPr>
          <a:xfrm>
            <a:off x="623888" y="1537018"/>
            <a:ext cx="7886700" cy="1175035"/>
          </a:xfrm>
        </p:spPr>
        <p:txBody>
          <a:bodyPr anchor="b">
            <a:normAutofit/>
          </a:bodyPr>
          <a:lstStyle>
            <a:lvl1pPr algn="l">
              <a:defRPr sz="3600" b="1"/>
            </a:lvl1pPr>
          </a:lstStyle>
          <a:p>
            <a:r>
              <a:rPr lang="en-US" dirty="0"/>
              <a:t>Thank you</a:t>
            </a:r>
            <a:endParaRPr lang="en-AU" dirty="0"/>
          </a:p>
        </p:txBody>
      </p:sp>
    </p:spTree>
    <p:extLst>
      <p:ext uri="{BB962C8B-B14F-4D97-AF65-F5344CB8AC3E}">
        <p14:creationId xmlns:p14="http://schemas.microsoft.com/office/powerpoint/2010/main" val="24472196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End slide (Dark)">
    <p:bg>
      <p:bgPr>
        <a:solidFill>
          <a:schemeClr val="tx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96A0DB5-DDCF-2081-B81B-1D1324AE815C}"/>
              </a:ext>
            </a:extLst>
          </p:cNvPr>
          <p:cNvSpPr>
            <a:spLocks noGrp="1"/>
          </p:cNvSpPr>
          <p:nvPr>
            <p:ph type="body" idx="10" hasCustomPrompt="1"/>
          </p:nvPr>
        </p:nvSpPr>
        <p:spPr>
          <a:xfrm>
            <a:off x="623888" y="2862208"/>
            <a:ext cx="7886700" cy="539716"/>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text</a:t>
            </a:r>
          </a:p>
        </p:txBody>
      </p:sp>
      <p:sp>
        <p:nvSpPr>
          <p:cNvPr id="3" name="Title 1">
            <a:extLst>
              <a:ext uri="{FF2B5EF4-FFF2-40B4-BE49-F238E27FC236}">
                <a16:creationId xmlns:a16="http://schemas.microsoft.com/office/drawing/2014/main" id="{8342A588-831E-F270-F2FA-BE6B3F6305DD}"/>
              </a:ext>
            </a:extLst>
          </p:cNvPr>
          <p:cNvSpPr>
            <a:spLocks noGrp="1"/>
          </p:cNvSpPr>
          <p:nvPr>
            <p:ph type="ctrTitle" hasCustomPrompt="1"/>
          </p:nvPr>
        </p:nvSpPr>
        <p:spPr>
          <a:xfrm>
            <a:off x="623888" y="1537018"/>
            <a:ext cx="7886700" cy="1175035"/>
          </a:xfrm>
        </p:spPr>
        <p:txBody>
          <a:bodyPr anchor="b">
            <a:normAutofit/>
          </a:bodyPr>
          <a:lstStyle>
            <a:lvl1pPr algn="l">
              <a:defRPr sz="3600" b="1">
                <a:solidFill>
                  <a:schemeClr val="bg1"/>
                </a:solidFill>
              </a:defRPr>
            </a:lvl1pPr>
          </a:lstStyle>
          <a:p>
            <a:r>
              <a:rPr lang="en-US" dirty="0"/>
              <a:t>Thank you</a:t>
            </a:r>
            <a:endParaRPr lang="en-AU" dirty="0"/>
          </a:p>
        </p:txBody>
      </p:sp>
    </p:spTree>
    <p:extLst>
      <p:ext uri="{BB962C8B-B14F-4D97-AF65-F5344CB8AC3E}">
        <p14:creationId xmlns:p14="http://schemas.microsoft.com/office/powerpoint/2010/main" val="2774061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33343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87013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4595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62349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5921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002485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41054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68930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69996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62734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42372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bg2">
                <a:shade val="63000"/>
                <a:satMod val="12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9DC92F-C48D-EE1E-BC84-8131B8B9218E}"/>
              </a:ext>
            </a:extLst>
          </p:cNvPr>
          <p:cNvSpPr>
            <a:spLocks noGrp="1"/>
          </p:cNvSpPr>
          <p:nvPr>
            <p:ph type="title"/>
          </p:nvPr>
        </p:nvSpPr>
        <p:spPr>
          <a:xfrm>
            <a:off x="628650" y="273844"/>
            <a:ext cx="7886700" cy="730708"/>
          </a:xfrm>
          <a:prstGeom prst="rect">
            <a:avLst/>
          </a:prstGeom>
        </p:spPr>
        <p:txBody>
          <a:bodyPr vert="horz" lIns="91440" tIns="45720" rIns="91440" bIns="45720" rtlCol="0" anchor="ctr">
            <a:normAutofit/>
          </a:bodyPr>
          <a:lstStyle/>
          <a:p>
            <a:r>
              <a:rPr lang="en-US"/>
              <a:t>Click to edit Master title style</a:t>
            </a:r>
            <a:endParaRPr lang="en-AU" dirty="0"/>
          </a:p>
        </p:txBody>
      </p:sp>
      <p:sp>
        <p:nvSpPr>
          <p:cNvPr id="3" name="Text Placeholder 2">
            <a:extLst>
              <a:ext uri="{FF2B5EF4-FFF2-40B4-BE49-F238E27FC236}">
                <a16:creationId xmlns:a16="http://schemas.microsoft.com/office/drawing/2014/main" id="{FA790F5A-66E2-1325-3E44-51778AD260D3}"/>
              </a:ext>
            </a:extLst>
          </p:cNvPr>
          <p:cNvSpPr>
            <a:spLocks noGrp="1"/>
          </p:cNvSpPr>
          <p:nvPr>
            <p:ph type="body" idx="1"/>
          </p:nvPr>
        </p:nvSpPr>
        <p:spPr>
          <a:xfrm>
            <a:off x="628650" y="1369219"/>
            <a:ext cx="7886700" cy="30751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Footer Placeholder 4">
            <a:extLst>
              <a:ext uri="{FF2B5EF4-FFF2-40B4-BE49-F238E27FC236}">
                <a16:creationId xmlns:a16="http://schemas.microsoft.com/office/drawing/2014/main" id="{4362B1D4-21C3-5886-6506-582F2665DCAE}"/>
              </a:ext>
            </a:extLst>
          </p:cNvPr>
          <p:cNvSpPr>
            <a:spLocks noGrp="1"/>
          </p:cNvSpPr>
          <p:nvPr>
            <p:ph type="ftr" sz="quarter" idx="3"/>
          </p:nvPr>
        </p:nvSpPr>
        <p:spPr>
          <a:xfrm>
            <a:off x="628650" y="4767263"/>
            <a:ext cx="3086100" cy="273844"/>
          </a:xfrm>
          <a:prstGeom prst="rect">
            <a:avLst/>
          </a:prstGeom>
        </p:spPr>
        <p:txBody>
          <a:bodyPr vert="horz" lIns="91440" tIns="45720" rIns="91440" bIns="45720" rtlCol="0" anchor="ctr"/>
          <a:lstStyle>
            <a:lvl1pPr algn="l">
              <a:defRPr sz="900">
                <a:solidFill>
                  <a:schemeClr val="tx1">
                    <a:tint val="82000"/>
                  </a:schemeClr>
                </a:solidFill>
                <a:latin typeface="Arial" panose="020B0604020202020204" pitchFamily="34" charset="0"/>
                <a:cs typeface="Arial" panose="020B0604020202020204" pitchFamily="34" charset="0"/>
              </a:defRPr>
            </a:lvl1pPr>
          </a:lstStyle>
          <a:p>
            <a:r>
              <a:rPr lang="en-AU" dirty="0"/>
              <a:t>Footer</a:t>
            </a:r>
          </a:p>
        </p:txBody>
      </p:sp>
      <p:sp>
        <p:nvSpPr>
          <p:cNvPr id="6" name="Slide Number Placeholder 5">
            <a:extLst>
              <a:ext uri="{FF2B5EF4-FFF2-40B4-BE49-F238E27FC236}">
                <a16:creationId xmlns:a16="http://schemas.microsoft.com/office/drawing/2014/main" id="{A5C4256D-3E4A-8141-7609-1ABD5E73D19A}"/>
              </a:ext>
            </a:extLst>
          </p:cNvPr>
          <p:cNvSpPr>
            <a:spLocks noGrp="1"/>
          </p:cNvSpPr>
          <p:nvPr>
            <p:ph type="sldNum" sz="quarter" idx="4"/>
          </p:nvPr>
        </p:nvSpPr>
        <p:spPr>
          <a:xfrm>
            <a:off x="101009" y="4767263"/>
            <a:ext cx="417816" cy="273844"/>
          </a:xfrm>
          <a:prstGeom prst="rect">
            <a:avLst/>
          </a:prstGeom>
        </p:spPr>
        <p:txBody>
          <a:bodyPr vert="horz" lIns="91440" tIns="45720" rIns="91440" bIns="45720" rtlCol="0" anchor="ctr"/>
          <a:lstStyle>
            <a:lvl1pPr algn="r">
              <a:defRPr sz="900">
                <a:solidFill>
                  <a:schemeClr val="tx1">
                    <a:tint val="82000"/>
                  </a:schemeClr>
                </a:solidFill>
                <a:latin typeface="Arial" panose="020B0604020202020204" pitchFamily="34" charset="0"/>
                <a:cs typeface="Arial" panose="020B0604020202020204" pitchFamily="34" charset="0"/>
              </a:defRPr>
            </a:lvl1pPr>
          </a:lstStyle>
          <a:p>
            <a:fld id="{5C75888C-CBC0-4624-9DF9-0508A40329AE}" type="slidenum">
              <a:rPr lang="en-AU" smtClean="0"/>
              <a:pPr/>
              <a:t>‹#›</a:t>
            </a:fld>
            <a:endParaRPr lang="en-AU" dirty="0"/>
          </a:p>
        </p:txBody>
      </p:sp>
    </p:spTree>
    <p:extLst>
      <p:ext uri="{BB962C8B-B14F-4D97-AF65-F5344CB8AC3E}">
        <p14:creationId xmlns:p14="http://schemas.microsoft.com/office/powerpoint/2010/main" val="2843218863"/>
      </p:ext>
    </p:extLst>
  </p:cSld>
  <p:clrMap bg1="dk1" tx1="lt1" bg2="dk2" tx2="lt2" accent1="accent1" accent2="accent2" accent3="accent3" accent4="accent4" accent5="accent5" accent6="accent6" hlink="hlink" folHlink="folHlink"/>
  <p:sldLayoutIdLst>
    <p:sldLayoutId id="2147483707" r:id="rId1"/>
    <p:sldLayoutId id="2147483728" r:id="rId2"/>
    <p:sldLayoutId id="2147483725" r:id="rId3"/>
    <p:sldLayoutId id="2147483709" r:id="rId4"/>
    <p:sldLayoutId id="2147483729" r:id="rId5"/>
    <p:sldLayoutId id="2147483735" r:id="rId6"/>
    <p:sldLayoutId id="2147483730" r:id="rId7"/>
    <p:sldLayoutId id="2147483732" r:id="rId8"/>
    <p:sldLayoutId id="2147483713" r:id="rId9"/>
    <p:sldLayoutId id="2147483731" r:id="rId10"/>
    <p:sldLayoutId id="2147483714" r:id="rId11"/>
    <p:sldLayoutId id="2147483733" r:id="rId12"/>
    <p:sldLayoutId id="2147483734" r:id="rId13"/>
  </p:sldLayoutIdLst>
  <p:hf hdr="0"/>
  <p:txStyles>
    <p:titleStyle>
      <a:lvl1pPr algn="l" defTabSz="685800" rtl="0" eaLnBrk="1" latinLnBrk="0" hangingPunct="1">
        <a:lnSpc>
          <a:spcPct val="90000"/>
        </a:lnSpc>
        <a:spcBef>
          <a:spcPct val="0"/>
        </a:spcBef>
        <a:buNone/>
        <a:defRPr sz="2800" kern="1200">
          <a:solidFill>
            <a:schemeClr val="tx1"/>
          </a:solidFill>
          <a:latin typeface="Arial" panose="020B0604020202020204" pitchFamily="34" charset="0"/>
          <a:ea typeface="+mj-ea"/>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71450" algn="l" defTabSz="685800" rtl="0" eaLnBrk="1" latinLnBrk="0" hangingPunct="1">
        <a:lnSpc>
          <a:spcPct val="90000"/>
        </a:lnSpc>
        <a:spcBef>
          <a:spcPts val="75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3/11/2026</a:t>
            </a:fld>
            <a:endParaRPr lang="en-US"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802255180"/>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351FDC-90E4-C274-C908-4B4F035F6C6A}"/>
              </a:ext>
            </a:extLst>
          </p:cNvPr>
          <p:cNvSpPr>
            <a:spLocks noGrp="1"/>
          </p:cNvSpPr>
          <p:nvPr>
            <p:ph type="body" idx="4294967295"/>
          </p:nvPr>
        </p:nvSpPr>
        <p:spPr>
          <a:xfrm>
            <a:off x="623888" y="2862208"/>
            <a:ext cx="7886700" cy="539716"/>
          </a:xfrm>
        </p:spPr>
        <p:txBody>
          <a:bodyPr/>
          <a:lstStyle/>
          <a:p>
            <a:r>
              <a:rPr lang="en-US" dirty="0"/>
              <a:t>Breast Screen Queensland</a:t>
            </a:r>
          </a:p>
        </p:txBody>
      </p:sp>
      <p:sp>
        <p:nvSpPr>
          <p:cNvPr id="3" name="Title 2">
            <a:extLst>
              <a:ext uri="{FF2B5EF4-FFF2-40B4-BE49-F238E27FC236}">
                <a16:creationId xmlns:a16="http://schemas.microsoft.com/office/drawing/2014/main" id="{2402A601-304C-567A-60CB-009E1BB371B9}"/>
              </a:ext>
            </a:extLst>
          </p:cNvPr>
          <p:cNvSpPr>
            <a:spLocks noGrp="1"/>
          </p:cNvSpPr>
          <p:nvPr>
            <p:ph type="ctrTitle" idx="4294967295"/>
          </p:nvPr>
        </p:nvSpPr>
        <p:spPr>
          <a:xfrm>
            <a:off x="623888" y="1537018"/>
            <a:ext cx="7886700" cy="1175035"/>
          </a:xfrm>
        </p:spPr>
        <p:txBody>
          <a:bodyPr/>
          <a:lstStyle/>
          <a:p>
            <a:r>
              <a:rPr lang="en-US" dirty="0"/>
              <a:t>Simplification Strategy</a:t>
            </a:r>
          </a:p>
        </p:txBody>
      </p:sp>
    </p:spTree>
    <p:extLst>
      <p:ext uri="{BB962C8B-B14F-4D97-AF65-F5344CB8AC3E}">
        <p14:creationId xmlns:p14="http://schemas.microsoft.com/office/powerpoint/2010/main" val="566105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C9019-33F2-B851-BE3B-A6F3B97781CE}"/>
              </a:ext>
            </a:extLst>
          </p:cNvPr>
          <p:cNvSpPr>
            <a:spLocks noGrp="1"/>
          </p:cNvSpPr>
          <p:nvPr>
            <p:ph type="title"/>
          </p:nvPr>
        </p:nvSpPr>
        <p:spPr/>
        <p:txBody>
          <a:bodyPr>
            <a:normAutofit/>
          </a:bodyPr>
          <a:lstStyle/>
          <a:p>
            <a:r>
              <a:rPr lang="en-GB" sz="3000" b="1" dirty="0"/>
              <a:t>Purpose and Needs</a:t>
            </a:r>
            <a:endParaRPr lang="en-US" sz="3000" b="1" dirty="0"/>
          </a:p>
        </p:txBody>
      </p:sp>
      <p:sp>
        <p:nvSpPr>
          <p:cNvPr id="3" name="Content Placeholder 2">
            <a:extLst>
              <a:ext uri="{FF2B5EF4-FFF2-40B4-BE49-F238E27FC236}">
                <a16:creationId xmlns:a16="http://schemas.microsoft.com/office/drawing/2014/main" id="{D5243BA3-11D9-DDFA-F482-4385BCD47B2F}"/>
              </a:ext>
            </a:extLst>
          </p:cNvPr>
          <p:cNvSpPr>
            <a:spLocks noGrp="1"/>
          </p:cNvSpPr>
          <p:nvPr>
            <p:ph idx="1"/>
          </p:nvPr>
        </p:nvSpPr>
        <p:spPr>
          <a:xfrm>
            <a:off x="628650" y="1004552"/>
            <a:ext cx="8305038" cy="3439857"/>
          </a:xfrm>
        </p:spPr>
        <p:txBody>
          <a:bodyPr>
            <a:noAutofit/>
          </a:bodyPr>
          <a:lstStyle/>
          <a:p>
            <a:r>
              <a:rPr lang="en-GB" sz="1900" dirty="0"/>
              <a:t>Seek leadership direction on pathway for BSQ system development</a:t>
            </a:r>
          </a:p>
          <a:p>
            <a:r>
              <a:rPr lang="en-GB" sz="1900" dirty="0"/>
              <a:t>Ensure the decision balances </a:t>
            </a:r>
            <a:r>
              <a:rPr lang="en-GB" sz="1900" b="1" dirty="0"/>
              <a:t>operational continuity</a:t>
            </a:r>
            <a:r>
              <a:rPr lang="en-GB" sz="1900" dirty="0"/>
              <a:t>, </a:t>
            </a:r>
            <a:r>
              <a:rPr lang="en-GB" sz="1900" b="1" dirty="0"/>
              <a:t>risk exposure</a:t>
            </a:r>
            <a:r>
              <a:rPr lang="en-GB" sz="1900" dirty="0"/>
              <a:t>, and </a:t>
            </a:r>
            <a:r>
              <a:rPr lang="en-GB" sz="1900" b="1" dirty="0"/>
              <a:t>future readiness</a:t>
            </a:r>
            <a:endParaRPr lang="en-GB" sz="1900" dirty="0"/>
          </a:p>
          <a:p>
            <a:pPr marL="0" indent="0">
              <a:buNone/>
            </a:pPr>
            <a:endParaRPr lang="en-GB" sz="1900" b="1" dirty="0"/>
          </a:p>
          <a:p>
            <a:pPr marL="0" indent="0">
              <a:buNone/>
            </a:pPr>
            <a:r>
              <a:rPr lang="en-GB" sz="1900" dirty="0"/>
              <a:t>This decision will determine BSQ’s:</a:t>
            </a:r>
          </a:p>
          <a:p>
            <a:r>
              <a:rPr lang="en-GB" sz="1900" dirty="0"/>
              <a:t>Long-term risk exposure</a:t>
            </a:r>
          </a:p>
          <a:p>
            <a:r>
              <a:rPr lang="en-GB" sz="1900" dirty="0"/>
              <a:t>Cost and time involved in change</a:t>
            </a:r>
          </a:p>
          <a:p>
            <a:r>
              <a:rPr lang="en-GB" sz="1900" dirty="0"/>
              <a:t>Ability to integrate and evolve</a:t>
            </a:r>
          </a:p>
          <a:p>
            <a:pPr marL="0" indent="0">
              <a:buNone/>
            </a:pPr>
            <a:endParaRPr lang="en-GB" sz="1900" b="1" i="1" dirty="0"/>
          </a:p>
          <a:p>
            <a:pPr marL="0" indent="0">
              <a:buNone/>
            </a:pPr>
            <a:r>
              <a:rPr lang="en-GB" sz="1900" b="1" i="1" dirty="0"/>
              <a:t>Any decision of whether to simplify must be definitive and enforced</a:t>
            </a:r>
          </a:p>
        </p:txBody>
      </p:sp>
      <p:sp>
        <p:nvSpPr>
          <p:cNvPr id="4" name="Footer Placeholder 3">
            <a:extLst>
              <a:ext uri="{FF2B5EF4-FFF2-40B4-BE49-F238E27FC236}">
                <a16:creationId xmlns:a16="http://schemas.microsoft.com/office/drawing/2014/main" id="{3002478B-445F-7BC8-545B-0780EA181313}"/>
              </a:ext>
            </a:extLst>
          </p:cNvPr>
          <p:cNvSpPr>
            <a:spLocks noGrp="1"/>
          </p:cNvSpPr>
          <p:nvPr>
            <p:ph type="ftr" sz="quarter" idx="3"/>
          </p:nvPr>
        </p:nvSpPr>
        <p:spPr/>
        <p:txBody>
          <a:bodyPr/>
          <a:lstStyle/>
          <a:p>
            <a:r>
              <a:rPr lang="en-AU" dirty="0"/>
              <a:t>BSQ - Simplification Strategy</a:t>
            </a:r>
          </a:p>
        </p:txBody>
      </p:sp>
      <p:sp>
        <p:nvSpPr>
          <p:cNvPr id="5" name="Slide Number Placeholder 4">
            <a:extLst>
              <a:ext uri="{FF2B5EF4-FFF2-40B4-BE49-F238E27FC236}">
                <a16:creationId xmlns:a16="http://schemas.microsoft.com/office/drawing/2014/main" id="{80D4040E-5B0F-3764-4214-F3B49EBC37F9}"/>
              </a:ext>
            </a:extLst>
          </p:cNvPr>
          <p:cNvSpPr>
            <a:spLocks noGrp="1"/>
          </p:cNvSpPr>
          <p:nvPr>
            <p:ph type="sldNum" sz="quarter" idx="4"/>
          </p:nvPr>
        </p:nvSpPr>
        <p:spPr/>
        <p:txBody>
          <a:bodyPr/>
          <a:lstStyle/>
          <a:p>
            <a:fld id="{5C75888C-CBC0-4624-9DF9-0508A40329AE}" type="slidenum">
              <a:rPr lang="en-AU" smtClean="0"/>
              <a:pPr/>
              <a:t>1</a:t>
            </a:fld>
            <a:endParaRPr lang="en-AU" dirty="0"/>
          </a:p>
        </p:txBody>
      </p:sp>
    </p:spTree>
    <p:extLst>
      <p:ext uri="{BB962C8B-B14F-4D97-AF65-F5344CB8AC3E}">
        <p14:creationId xmlns:p14="http://schemas.microsoft.com/office/powerpoint/2010/main" val="3482010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31371-9D20-1466-F803-E924D778D0CB}"/>
              </a:ext>
            </a:extLst>
          </p:cNvPr>
          <p:cNvSpPr>
            <a:spLocks noGrp="1"/>
          </p:cNvSpPr>
          <p:nvPr>
            <p:ph type="title"/>
          </p:nvPr>
        </p:nvSpPr>
        <p:spPr/>
        <p:txBody>
          <a:bodyPr>
            <a:normAutofit/>
          </a:bodyPr>
          <a:lstStyle/>
          <a:p>
            <a:r>
              <a:rPr lang="en-GB" sz="3000" b="1" dirty="0"/>
              <a:t>Background and Understanding</a:t>
            </a:r>
          </a:p>
        </p:txBody>
      </p:sp>
      <p:sp>
        <p:nvSpPr>
          <p:cNvPr id="3" name="Content Placeholder 2">
            <a:extLst>
              <a:ext uri="{FF2B5EF4-FFF2-40B4-BE49-F238E27FC236}">
                <a16:creationId xmlns:a16="http://schemas.microsoft.com/office/drawing/2014/main" id="{7D454C0D-57AB-5AB3-65AF-C1D0183BA1A3}"/>
              </a:ext>
            </a:extLst>
          </p:cNvPr>
          <p:cNvSpPr>
            <a:spLocks noGrp="1"/>
          </p:cNvSpPr>
          <p:nvPr>
            <p:ph idx="1"/>
          </p:nvPr>
        </p:nvSpPr>
        <p:spPr>
          <a:xfrm>
            <a:off x="628650" y="1133244"/>
            <a:ext cx="7886700" cy="3075190"/>
          </a:xfrm>
        </p:spPr>
        <p:txBody>
          <a:bodyPr/>
          <a:lstStyle/>
          <a:p>
            <a:pPr marL="0" lvl="0" indent="0">
              <a:buNone/>
            </a:pPr>
            <a:r>
              <a:rPr lang="en-AU" sz="2200" b="1" dirty="0"/>
              <a:t>You must appreciate:</a:t>
            </a:r>
          </a:p>
          <a:p>
            <a:pPr marL="0" lvl="0" indent="0">
              <a:buNone/>
            </a:pPr>
            <a:endParaRPr lang="en-AU" sz="1000" b="1" dirty="0"/>
          </a:p>
          <a:p>
            <a:pPr lvl="0"/>
            <a:r>
              <a:rPr lang="en-AU" sz="2200" dirty="0"/>
              <a:t>The nature of the current BSQ problem</a:t>
            </a:r>
          </a:p>
          <a:p>
            <a:pPr lvl="0"/>
            <a:r>
              <a:rPr lang="en-AU" sz="2200" dirty="0"/>
              <a:t>The overheads required to sustain it</a:t>
            </a:r>
          </a:p>
          <a:p>
            <a:pPr lvl="0"/>
            <a:r>
              <a:rPr lang="en-AU" sz="2200" dirty="0"/>
              <a:t>Real-world examples of over-engineering</a:t>
            </a:r>
          </a:p>
          <a:p>
            <a:pPr lvl="0"/>
            <a:r>
              <a:rPr lang="en-AU" sz="2200" dirty="0"/>
              <a:t>Why a </a:t>
            </a:r>
            <a:r>
              <a:rPr lang="en-AU" sz="2200" b="1" dirty="0"/>
              <a:t>simpler, more structured approach</a:t>
            </a:r>
            <a:r>
              <a:rPr lang="en-AU" sz="2200" dirty="0"/>
              <a:t> delivers better value, lower risk, and greater sustainability</a:t>
            </a:r>
          </a:p>
          <a:p>
            <a:endParaRPr lang="en-GB" dirty="0"/>
          </a:p>
        </p:txBody>
      </p:sp>
      <p:sp>
        <p:nvSpPr>
          <p:cNvPr id="4" name="Footer Placeholder 3">
            <a:extLst>
              <a:ext uri="{FF2B5EF4-FFF2-40B4-BE49-F238E27FC236}">
                <a16:creationId xmlns:a16="http://schemas.microsoft.com/office/drawing/2014/main" id="{7235514C-A6B8-6AE3-E4BC-5F8A0B2CDD83}"/>
              </a:ext>
            </a:extLst>
          </p:cNvPr>
          <p:cNvSpPr>
            <a:spLocks noGrp="1"/>
          </p:cNvSpPr>
          <p:nvPr>
            <p:ph type="ftr" sz="quarter" idx="3"/>
          </p:nvPr>
        </p:nvSpPr>
        <p:spPr/>
        <p:txBody>
          <a:bodyPr/>
          <a:lstStyle/>
          <a:p>
            <a:r>
              <a:rPr lang="en-AU" dirty="0"/>
              <a:t>BSQ - Simplification Strategy</a:t>
            </a:r>
          </a:p>
        </p:txBody>
      </p:sp>
      <p:sp>
        <p:nvSpPr>
          <p:cNvPr id="5" name="Slide Number Placeholder 4">
            <a:extLst>
              <a:ext uri="{FF2B5EF4-FFF2-40B4-BE49-F238E27FC236}">
                <a16:creationId xmlns:a16="http://schemas.microsoft.com/office/drawing/2014/main" id="{F16B61C4-94D6-5121-640C-E7192804EF5A}"/>
              </a:ext>
            </a:extLst>
          </p:cNvPr>
          <p:cNvSpPr>
            <a:spLocks noGrp="1"/>
          </p:cNvSpPr>
          <p:nvPr>
            <p:ph type="sldNum" sz="quarter" idx="4"/>
          </p:nvPr>
        </p:nvSpPr>
        <p:spPr/>
        <p:txBody>
          <a:bodyPr/>
          <a:lstStyle/>
          <a:p>
            <a:fld id="{5C75888C-CBC0-4624-9DF9-0508A40329AE}" type="slidenum">
              <a:rPr lang="en-AU" smtClean="0"/>
              <a:pPr/>
              <a:t>2</a:t>
            </a:fld>
            <a:endParaRPr lang="en-AU" dirty="0"/>
          </a:p>
        </p:txBody>
      </p:sp>
    </p:spTree>
    <p:extLst>
      <p:ext uri="{BB962C8B-B14F-4D97-AF65-F5344CB8AC3E}">
        <p14:creationId xmlns:p14="http://schemas.microsoft.com/office/powerpoint/2010/main" val="1949539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33AD8-BAB4-4096-53D6-759E3839E21E}"/>
              </a:ext>
            </a:extLst>
          </p:cNvPr>
          <p:cNvSpPr>
            <a:spLocks noGrp="1"/>
          </p:cNvSpPr>
          <p:nvPr>
            <p:ph type="title"/>
          </p:nvPr>
        </p:nvSpPr>
        <p:spPr/>
        <p:txBody>
          <a:bodyPr>
            <a:normAutofit/>
          </a:bodyPr>
          <a:lstStyle/>
          <a:p>
            <a:r>
              <a:rPr lang="en-GB" sz="3000" b="1" dirty="0"/>
              <a:t>Current Over-Engineered State</a:t>
            </a:r>
          </a:p>
        </p:txBody>
      </p:sp>
      <p:sp>
        <p:nvSpPr>
          <p:cNvPr id="3" name="Content Placeholder 2">
            <a:extLst>
              <a:ext uri="{FF2B5EF4-FFF2-40B4-BE49-F238E27FC236}">
                <a16:creationId xmlns:a16="http://schemas.microsoft.com/office/drawing/2014/main" id="{67C253EC-86A1-A71B-CAB8-A7D7C3D7482A}"/>
              </a:ext>
            </a:extLst>
          </p:cNvPr>
          <p:cNvSpPr>
            <a:spLocks noGrp="1"/>
          </p:cNvSpPr>
          <p:nvPr>
            <p:ph idx="1"/>
          </p:nvPr>
        </p:nvSpPr>
        <p:spPr>
          <a:xfrm>
            <a:off x="628650" y="1172574"/>
            <a:ext cx="7886700" cy="3075190"/>
          </a:xfrm>
        </p:spPr>
        <p:txBody>
          <a:bodyPr>
            <a:normAutofit/>
          </a:bodyPr>
          <a:lstStyle/>
          <a:p>
            <a:pPr marL="0" indent="0">
              <a:buNone/>
            </a:pPr>
            <a:r>
              <a:rPr lang="en-AU" sz="2200" dirty="0"/>
              <a:t>Key characteristics of the current system include:</a:t>
            </a:r>
          </a:p>
          <a:p>
            <a:pPr marL="0" indent="0">
              <a:buNone/>
            </a:pPr>
            <a:endParaRPr lang="en-AU" sz="1000" dirty="0"/>
          </a:p>
          <a:p>
            <a:pPr lvl="0"/>
            <a:r>
              <a:rPr lang="en-AU" sz="2200" b="1" dirty="0"/>
              <a:t>Proprietary FOEX logic</a:t>
            </a:r>
            <a:r>
              <a:rPr lang="en-AU" sz="2200" dirty="0"/>
              <a:t> controlling when </a:t>
            </a:r>
            <a:br>
              <a:rPr lang="en-AU" sz="2200" dirty="0"/>
            </a:br>
            <a:r>
              <a:rPr lang="en-AU" sz="2200" dirty="0"/>
              <a:t>fields appear, can be edited, or must be locked</a:t>
            </a:r>
            <a:endParaRPr lang="en-AU" sz="2200" b="1" dirty="0"/>
          </a:p>
          <a:p>
            <a:pPr lvl="0"/>
            <a:r>
              <a:rPr lang="en-AU" sz="2200" b="1" dirty="0"/>
              <a:t>Complex business rules</a:t>
            </a:r>
            <a:r>
              <a:rPr lang="en-AU" sz="2200" dirty="0"/>
              <a:t> tied to historic</a:t>
            </a:r>
            <a:br>
              <a:rPr lang="en-AU" sz="2200" dirty="0"/>
            </a:br>
            <a:r>
              <a:rPr lang="en-AU" sz="2200" dirty="0"/>
              <a:t>workforce user roles that may no longer exist</a:t>
            </a:r>
          </a:p>
          <a:p>
            <a:r>
              <a:rPr lang="en-AU" sz="2200" b="1" dirty="0"/>
              <a:t>Data Disparity </a:t>
            </a:r>
            <a:r>
              <a:rPr lang="en-AU" sz="2200" dirty="0"/>
              <a:t>requires use of backend </a:t>
            </a:r>
            <a:br>
              <a:rPr lang="en-AU" sz="2200" dirty="0"/>
            </a:br>
            <a:r>
              <a:rPr lang="en-AU" sz="2200" dirty="0"/>
              <a:t>SQL scripts rather Application screens to fix</a:t>
            </a:r>
          </a:p>
          <a:p>
            <a:endParaRPr lang="en-GB" dirty="0"/>
          </a:p>
        </p:txBody>
      </p:sp>
      <p:sp>
        <p:nvSpPr>
          <p:cNvPr id="4" name="Footer Placeholder 3">
            <a:extLst>
              <a:ext uri="{FF2B5EF4-FFF2-40B4-BE49-F238E27FC236}">
                <a16:creationId xmlns:a16="http://schemas.microsoft.com/office/drawing/2014/main" id="{BF3BB93A-5DE1-518D-2E97-CBDF57D92765}"/>
              </a:ext>
            </a:extLst>
          </p:cNvPr>
          <p:cNvSpPr>
            <a:spLocks noGrp="1"/>
          </p:cNvSpPr>
          <p:nvPr>
            <p:ph type="ftr" sz="quarter" idx="3"/>
          </p:nvPr>
        </p:nvSpPr>
        <p:spPr/>
        <p:txBody>
          <a:bodyPr/>
          <a:lstStyle/>
          <a:p>
            <a:r>
              <a:rPr lang="en-AU" dirty="0"/>
              <a:t>BSQ - Simplification Strategy</a:t>
            </a:r>
          </a:p>
        </p:txBody>
      </p:sp>
      <p:sp>
        <p:nvSpPr>
          <p:cNvPr id="5" name="Slide Number Placeholder 4">
            <a:extLst>
              <a:ext uri="{FF2B5EF4-FFF2-40B4-BE49-F238E27FC236}">
                <a16:creationId xmlns:a16="http://schemas.microsoft.com/office/drawing/2014/main" id="{73BE1329-271A-82F5-4D78-16F4D3E954FB}"/>
              </a:ext>
            </a:extLst>
          </p:cNvPr>
          <p:cNvSpPr>
            <a:spLocks noGrp="1"/>
          </p:cNvSpPr>
          <p:nvPr>
            <p:ph type="sldNum" sz="quarter" idx="4"/>
          </p:nvPr>
        </p:nvSpPr>
        <p:spPr/>
        <p:txBody>
          <a:bodyPr/>
          <a:lstStyle/>
          <a:p>
            <a:fld id="{5C75888C-CBC0-4624-9DF9-0508A40329AE}" type="slidenum">
              <a:rPr lang="en-AU" smtClean="0"/>
              <a:pPr/>
              <a:t>3</a:t>
            </a:fld>
            <a:endParaRPr lang="en-AU" dirty="0"/>
          </a:p>
        </p:txBody>
      </p:sp>
      <p:pic>
        <p:nvPicPr>
          <p:cNvPr id="7" name="Picture 6">
            <a:extLst>
              <a:ext uri="{FF2B5EF4-FFF2-40B4-BE49-F238E27FC236}">
                <a16:creationId xmlns:a16="http://schemas.microsoft.com/office/drawing/2014/main" id="{A2EC6C85-2DCE-321C-AAE4-81E2F10B6602}"/>
              </a:ext>
            </a:extLst>
          </p:cNvPr>
          <p:cNvPicPr>
            <a:picLocks noChangeAspect="1"/>
          </p:cNvPicPr>
          <p:nvPr/>
        </p:nvPicPr>
        <p:blipFill>
          <a:blip r:embed="rId3"/>
          <a:stretch>
            <a:fillRect/>
          </a:stretch>
        </p:blipFill>
        <p:spPr>
          <a:xfrm>
            <a:off x="6769574" y="1570264"/>
            <a:ext cx="2273417" cy="3333921"/>
          </a:xfrm>
          <a:prstGeom prst="rect">
            <a:avLst/>
          </a:prstGeom>
        </p:spPr>
      </p:pic>
    </p:spTree>
    <p:extLst>
      <p:ext uri="{BB962C8B-B14F-4D97-AF65-F5344CB8AC3E}">
        <p14:creationId xmlns:p14="http://schemas.microsoft.com/office/powerpoint/2010/main" val="276604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FEC8-E711-3685-68CD-E53976C4F3BB}"/>
              </a:ext>
            </a:extLst>
          </p:cNvPr>
          <p:cNvSpPr>
            <a:spLocks noGrp="1"/>
          </p:cNvSpPr>
          <p:nvPr>
            <p:ph type="title"/>
          </p:nvPr>
        </p:nvSpPr>
        <p:spPr/>
        <p:txBody>
          <a:bodyPr>
            <a:normAutofit/>
          </a:bodyPr>
          <a:lstStyle/>
          <a:p>
            <a:r>
              <a:rPr lang="en-GB" sz="3000" b="1" dirty="0"/>
              <a:t>Today’s Operational Overheads</a:t>
            </a:r>
          </a:p>
        </p:txBody>
      </p:sp>
      <p:sp>
        <p:nvSpPr>
          <p:cNvPr id="3" name="Content Placeholder 2">
            <a:extLst>
              <a:ext uri="{FF2B5EF4-FFF2-40B4-BE49-F238E27FC236}">
                <a16:creationId xmlns:a16="http://schemas.microsoft.com/office/drawing/2014/main" id="{40AA8CB2-B5C4-6A91-9866-9DD707123C2A}"/>
              </a:ext>
            </a:extLst>
          </p:cNvPr>
          <p:cNvSpPr>
            <a:spLocks noGrp="1"/>
          </p:cNvSpPr>
          <p:nvPr>
            <p:ph idx="1"/>
          </p:nvPr>
        </p:nvSpPr>
        <p:spPr>
          <a:xfrm>
            <a:off x="628650" y="1182406"/>
            <a:ext cx="7886700" cy="3075190"/>
          </a:xfrm>
        </p:spPr>
        <p:txBody>
          <a:bodyPr/>
          <a:lstStyle/>
          <a:p>
            <a:pPr marL="0" indent="0">
              <a:buNone/>
            </a:pPr>
            <a:r>
              <a:rPr lang="en-AU" sz="2200" dirty="0"/>
              <a:t>Operational impacts include:</a:t>
            </a:r>
          </a:p>
          <a:p>
            <a:pPr marL="0" indent="0">
              <a:buNone/>
            </a:pPr>
            <a:endParaRPr lang="en-AU" sz="1000" dirty="0"/>
          </a:p>
          <a:p>
            <a:pPr lvl="0"/>
            <a:r>
              <a:rPr lang="en-AU" sz="2200" dirty="0"/>
              <a:t>Heavy reliance on specialist Oracle and </a:t>
            </a:r>
            <a:r>
              <a:rPr lang="en-AU" sz="2200" b="1" dirty="0"/>
              <a:t>legacy FOEX skills</a:t>
            </a:r>
          </a:p>
          <a:p>
            <a:pPr lvl="0"/>
            <a:r>
              <a:rPr lang="en-AU" sz="2200" dirty="0"/>
              <a:t>Frequent </a:t>
            </a:r>
            <a:r>
              <a:rPr lang="en-AU" sz="2200" b="1" dirty="0"/>
              <a:t>data disparities </a:t>
            </a:r>
            <a:r>
              <a:rPr lang="en-AU" sz="2200" dirty="0"/>
              <a:t>that disrupt clinical workflows</a:t>
            </a:r>
          </a:p>
          <a:p>
            <a:pPr lvl="0"/>
            <a:r>
              <a:rPr lang="en-AU" sz="2200" dirty="0"/>
              <a:t>Regular use of </a:t>
            </a:r>
            <a:r>
              <a:rPr lang="en-AU" sz="2200" b="1" dirty="0"/>
              <a:t>back-end SQL scripts </a:t>
            </a:r>
            <a:r>
              <a:rPr lang="en-AU" sz="2200" dirty="0"/>
              <a:t>by </a:t>
            </a:r>
            <a:r>
              <a:rPr lang="en-AU" sz="2200" b="1" dirty="0"/>
              <a:t>Registry staff </a:t>
            </a:r>
            <a:r>
              <a:rPr lang="en-AU" sz="2200" dirty="0"/>
              <a:t>to manually correct database data</a:t>
            </a:r>
          </a:p>
          <a:p>
            <a:pPr lvl="0"/>
            <a:r>
              <a:rPr lang="en-AU" sz="2200" dirty="0"/>
              <a:t>In complex cases, Oracle developers spending </a:t>
            </a:r>
            <a:r>
              <a:rPr lang="en-AU" sz="2200" b="1" dirty="0"/>
              <a:t>hours per day</a:t>
            </a:r>
            <a:r>
              <a:rPr lang="en-AU" sz="2200" dirty="0"/>
              <a:t> writing or executing corrective scripts</a:t>
            </a:r>
          </a:p>
        </p:txBody>
      </p:sp>
      <p:sp>
        <p:nvSpPr>
          <p:cNvPr id="4" name="Footer Placeholder 3">
            <a:extLst>
              <a:ext uri="{FF2B5EF4-FFF2-40B4-BE49-F238E27FC236}">
                <a16:creationId xmlns:a16="http://schemas.microsoft.com/office/drawing/2014/main" id="{D5AF8975-7A6C-8EE4-978F-9E652BC6E8FF}"/>
              </a:ext>
            </a:extLst>
          </p:cNvPr>
          <p:cNvSpPr>
            <a:spLocks noGrp="1"/>
          </p:cNvSpPr>
          <p:nvPr>
            <p:ph type="ftr" sz="quarter" idx="3"/>
          </p:nvPr>
        </p:nvSpPr>
        <p:spPr/>
        <p:txBody>
          <a:bodyPr/>
          <a:lstStyle/>
          <a:p>
            <a:r>
              <a:rPr lang="en-AU" dirty="0"/>
              <a:t>BSQ - Simplification Strategy</a:t>
            </a:r>
          </a:p>
        </p:txBody>
      </p:sp>
      <p:sp>
        <p:nvSpPr>
          <p:cNvPr id="5" name="Slide Number Placeholder 4">
            <a:extLst>
              <a:ext uri="{FF2B5EF4-FFF2-40B4-BE49-F238E27FC236}">
                <a16:creationId xmlns:a16="http://schemas.microsoft.com/office/drawing/2014/main" id="{2849644D-8580-AE9F-7C3A-18B6589CC7B7}"/>
              </a:ext>
            </a:extLst>
          </p:cNvPr>
          <p:cNvSpPr>
            <a:spLocks noGrp="1"/>
          </p:cNvSpPr>
          <p:nvPr>
            <p:ph type="sldNum" sz="quarter" idx="4"/>
          </p:nvPr>
        </p:nvSpPr>
        <p:spPr/>
        <p:txBody>
          <a:bodyPr/>
          <a:lstStyle/>
          <a:p>
            <a:fld id="{5C75888C-CBC0-4624-9DF9-0508A40329AE}" type="slidenum">
              <a:rPr lang="en-AU" smtClean="0"/>
              <a:pPr/>
              <a:t>4</a:t>
            </a:fld>
            <a:endParaRPr lang="en-AU" dirty="0"/>
          </a:p>
        </p:txBody>
      </p:sp>
    </p:spTree>
    <p:extLst>
      <p:ext uri="{BB962C8B-B14F-4D97-AF65-F5344CB8AC3E}">
        <p14:creationId xmlns:p14="http://schemas.microsoft.com/office/powerpoint/2010/main" val="979092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ECCA-2756-9A5D-350B-A657C317B553}"/>
              </a:ext>
            </a:extLst>
          </p:cNvPr>
          <p:cNvSpPr>
            <a:spLocks noGrp="1"/>
          </p:cNvSpPr>
          <p:nvPr>
            <p:ph type="title"/>
          </p:nvPr>
        </p:nvSpPr>
        <p:spPr/>
        <p:txBody>
          <a:bodyPr/>
          <a:lstStyle/>
          <a:p>
            <a:r>
              <a:rPr lang="en-GB" dirty="0"/>
              <a:t>Case 1 - </a:t>
            </a:r>
            <a:r>
              <a:rPr lang="en-GB" b="1" dirty="0"/>
              <a:t>P</a:t>
            </a:r>
            <a:r>
              <a:rPr lang="en-GB" b="1" dirty="0">
                <a:solidFill>
                  <a:srgbClr val="005EB8"/>
                </a:solidFill>
              </a:rPr>
              <a:t>ermissions</a:t>
            </a:r>
            <a:r>
              <a:rPr lang="en-GB" b="1" dirty="0"/>
              <a:t> &amp; Access Control</a:t>
            </a:r>
            <a:endParaRPr lang="en-GB" dirty="0"/>
          </a:p>
        </p:txBody>
      </p:sp>
      <p:sp>
        <p:nvSpPr>
          <p:cNvPr id="3" name="Content Placeholder 2">
            <a:extLst>
              <a:ext uri="{FF2B5EF4-FFF2-40B4-BE49-F238E27FC236}">
                <a16:creationId xmlns:a16="http://schemas.microsoft.com/office/drawing/2014/main" id="{5384B157-94EF-BBDF-37A8-1D136D2112A3}"/>
              </a:ext>
            </a:extLst>
          </p:cNvPr>
          <p:cNvSpPr>
            <a:spLocks noGrp="1"/>
          </p:cNvSpPr>
          <p:nvPr>
            <p:ph idx="1"/>
          </p:nvPr>
        </p:nvSpPr>
        <p:spPr>
          <a:xfrm>
            <a:off x="628650" y="1123412"/>
            <a:ext cx="7886700" cy="3075190"/>
          </a:xfrm>
        </p:spPr>
        <p:txBody>
          <a:bodyPr>
            <a:normAutofit lnSpcReduction="10000"/>
          </a:bodyPr>
          <a:lstStyle/>
          <a:p>
            <a:pPr marL="0" indent="0">
              <a:buNone/>
            </a:pPr>
            <a:r>
              <a:rPr lang="en-AU" sz="2200" b="1" dirty="0"/>
              <a:t>Current behaviour</a:t>
            </a:r>
          </a:p>
          <a:p>
            <a:pPr marL="0" indent="0">
              <a:buNone/>
            </a:pPr>
            <a:endParaRPr lang="en-AU" sz="1000" dirty="0"/>
          </a:p>
          <a:p>
            <a:pPr lvl="0"/>
            <a:r>
              <a:rPr lang="en-AU" sz="2200" b="1" dirty="0"/>
              <a:t>Form field level </a:t>
            </a:r>
            <a:r>
              <a:rPr lang="en-AU" sz="2200" dirty="0"/>
              <a:t>permissions are </a:t>
            </a:r>
            <a:r>
              <a:rPr lang="en-AU" sz="2200" b="1" dirty="0"/>
              <a:t>inconsistent</a:t>
            </a:r>
          </a:p>
          <a:p>
            <a:pPr lvl="0"/>
            <a:r>
              <a:rPr lang="en-AU" sz="2200" b="1" dirty="0"/>
              <a:t>Conflicting rules </a:t>
            </a:r>
            <a:r>
              <a:rPr lang="en-AU" sz="2200" dirty="0"/>
              <a:t>between menu and </a:t>
            </a:r>
            <a:r>
              <a:rPr lang="en-AU" sz="2200" b="1" dirty="0"/>
              <a:t>data elements</a:t>
            </a:r>
          </a:p>
          <a:p>
            <a:pPr lvl="0"/>
            <a:r>
              <a:rPr lang="en-AU" sz="2200" b="1" dirty="0"/>
              <a:t>Parent menu permissions </a:t>
            </a:r>
            <a:r>
              <a:rPr lang="en-AU" sz="2200" dirty="0"/>
              <a:t>are adopted, automatically applying access to child level menus and forms</a:t>
            </a:r>
          </a:p>
          <a:p>
            <a:pPr marL="0" lvl="0" indent="0">
              <a:buNone/>
            </a:pPr>
            <a:endParaRPr lang="en-AU" sz="2200" dirty="0"/>
          </a:p>
          <a:p>
            <a:pPr marL="0" lvl="0" indent="0">
              <a:buNone/>
            </a:pPr>
            <a:r>
              <a:rPr lang="en-AU" sz="2200" i="1" dirty="0"/>
              <a:t>The are varying levels of permission controls – form fields, data elements and menu access</a:t>
            </a:r>
          </a:p>
        </p:txBody>
      </p:sp>
      <p:sp>
        <p:nvSpPr>
          <p:cNvPr id="4" name="Footer Placeholder 3">
            <a:extLst>
              <a:ext uri="{FF2B5EF4-FFF2-40B4-BE49-F238E27FC236}">
                <a16:creationId xmlns:a16="http://schemas.microsoft.com/office/drawing/2014/main" id="{3294CB1B-0625-5758-8FF5-238FA726993E}"/>
              </a:ext>
            </a:extLst>
          </p:cNvPr>
          <p:cNvSpPr>
            <a:spLocks noGrp="1"/>
          </p:cNvSpPr>
          <p:nvPr>
            <p:ph type="ftr" sz="quarter" idx="3"/>
          </p:nvPr>
        </p:nvSpPr>
        <p:spPr/>
        <p:txBody>
          <a:bodyPr/>
          <a:lstStyle/>
          <a:p>
            <a:r>
              <a:rPr lang="en-AU" dirty="0"/>
              <a:t>BSQ - Simplification Strategy</a:t>
            </a:r>
          </a:p>
        </p:txBody>
      </p:sp>
      <p:sp>
        <p:nvSpPr>
          <p:cNvPr id="5" name="Slide Number Placeholder 4">
            <a:extLst>
              <a:ext uri="{FF2B5EF4-FFF2-40B4-BE49-F238E27FC236}">
                <a16:creationId xmlns:a16="http://schemas.microsoft.com/office/drawing/2014/main" id="{BDBD30B0-5A65-9C66-E20B-747DA62EC2A7}"/>
              </a:ext>
            </a:extLst>
          </p:cNvPr>
          <p:cNvSpPr>
            <a:spLocks noGrp="1"/>
          </p:cNvSpPr>
          <p:nvPr>
            <p:ph type="sldNum" sz="quarter" idx="4"/>
          </p:nvPr>
        </p:nvSpPr>
        <p:spPr/>
        <p:txBody>
          <a:bodyPr/>
          <a:lstStyle/>
          <a:p>
            <a:fld id="{5C75888C-CBC0-4624-9DF9-0508A40329AE}" type="slidenum">
              <a:rPr lang="en-AU" smtClean="0"/>
              <a:pPr/>
              <a:t>5</a:t>
            </a:fld>
            <a:endParaRPr lang="en-AU" dirty="0"/>
          </a:p>
        </p:txBody>
      </p:sp>
    </p:spTree>
    <p:extLst>
      <p:ext uri="{BB962C8B-B14F-4D97-AF65-F5344CB8AC3E}">
        <p14:creationId xmlns:p14="http://schemas.microsoft.com/office/powerpoint/2010/main" val="4029384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E954ABB-72E3-4BC2-55AB-5D49961AB943}"/>
              </a:ext>
            </a:extLst>
          </p:cNvPr>
          <p:cNvPicPr>
            <a:picLocks noGrp="1" noChangeAspect="1"/>
          </p:cNvPicPr>
          <p:nvPr>
            <p:ph idx="1"/>
          </p:nvPr>
        </p:nvPicPr>
        <p:blipFill>
          <a:blip r:embed="rId3"/>
          <a:stretch>
            <a:fillRect/>
          </a:stretch>
        </p:blipFill>
        <p:spPr>
          <a:xfrm>
            <a:off x="1814127" y="1231501"/>
            <a:ext cx="5515744" cy="1207463"/>
          </a:xfrm>
        </p:spPr>
      </p:pic>
      <p:pic>
        <p:nvPicPr>
          <p:cNvPr id="7" name="Picture 6">
            <a:extLst>
              <a:ext uri="{FF2B5EF4-FFF2-40B4-BE49-F238E27FC236}">
                <a16:creationId xmlns:a16="http://schemas.microsoft.com/office/drawing/2014/main" id="{2558D80B-BB52-1F04-88D0-F35A361F8CFC}"/>
              </a:ext>
            </a:extLst>
          </p:cNvPr>
          <p:cNvPicPr>
            <a:picLocks noChangeAspect="1"/>
          </p:cNvPicPr>
          <p:nvPr/>
        </p:nvPicPr>
        <p:blipFill>
          <a:blip r:embed="rId4"/>
          <a:stretch>
            <a:fillRect/>
          </a:stretch>
        </p:blipFill>
        <p:spPr>
          <a:xfrm>
            <a:off x="1814127" y="2509909"/>
            <a:ext cx="5515745" cy="2314898"/>
          </a:xfrm>
          <a:prstGeom prst="rect">
            <a:avLst/>
          </a:prstGeom>
        </p:spPr>
      </p:pic>
      <p:sp>
        <p:nvSpPr>
          <p:cNvPr id="8" name="Rectangle: Single Corner Rounded 7">
            <a:extLst>
              <a:ext uri="{FF2B5EF4-FFF2-40B4-BE49-F238E27FC236}">
                <a16:creationId xmlns:a16="http://schemas.microsoft.com/office/drawing/2014/main" id="{36C37A5E-7D2B-1640-5D84-AC3B81D69895}"/>
              </a:ext>
            </a:extLst>
          </p:cNvPr>
          <p:cNvSpPr/>
          <p:nvPr/>
        </p:nvSpPr>
        <p:spPr>
          <a:xfrm>
            <a:off x="5784696" y="3261733"/>
            <a:ext cx="359627" cy="217448"/>
          </a:xfrm>
          <a:prstGeom prst="round1Rect">
            <a:avLst/>
          </a:prstGeom>
          <a:noFill/>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defTabSz="342900"/>
            <a:endParaRPr lang="en-AU" sz="1350" dirty="0">
              <a:solidFill>
                <a:srgbClr val="C0504D"/>
              </a:solidFill>
              <a:latin typeface="Calibri"/>
            </a:endParaRPr>
          </a:p>
        </p:txBody>
      </p:sp>
      <p:sp>
        <p:nvSpPr>
          <p:cNvPr id="9" name="Rectangle: Single Corner Rounded 8">
            <a:extLst>
              <a:ext uri="{FF2B5EF4-FFF2-40B4-BE49-F238E27FC236}">
                <a16:creationId xmlns:a16="http://schemas.microsoft.com/office/drawing/2014/main" id="{B18C10FC-80CF-EDBE-F988-67998583911E}"/>
              </a:ext>
            </a:extLst>
          </p:cNvPr>
          <p:cNvSpPr/>
          <p:nvPr/>
        </p:nvSpPr>
        <p:spPr>
          <a:xfrm>
            <a:off x="5505915" y="4454914"/>
            <a:ext cx="359627" cy="217448"/>
          </a:xfrm>
          <a:prstGeom prst="round1Rect">
            <a:avLst/>
          </a:prstGeom>
          <a:noFill/>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defTabSz="342900"/>
            <a:endParaRPr lang="en-AU" sz="1350" dirty="0">
              <a:solidFill>
                <a:srgbClr val="C0504D"/>
              </a:solidFill>
              <a:latin typeface="Calibri"/>
            </a:endParaRPr>
          </a:p>
        </p:txBody>
      </p:sp>
      <p:sp>
        <p:nvSpPr>
          <p:cNvPr id="3" name="Rectangle: Single Corner Rounded 2">
            <a:extLst>
              <a:ext uri="{FF2B5EF4-FFF2-40B4-BE49-F238E27FC236}">
                <a16:creationId xmlns:a16="http://schemas.microsoft.com/office/drawing/2014/main" id="{49BE9F85-A745-367A-CBB8-666E88497649}"/>
              </a:ext>
            </a:extLst>
          </p:cNvPr>
          <p:cNvSpPr/>
          <p:nvPr/>
        </p:nvSpPr>
        <p:spPr>
          <a:xfrm>
            <a:off x="4115442" y="4468569"/>
            <a:ext cx="359627" cy="217448"/>
          </a:xfrm>
          <a:prstGeom prst="round1Rect">
            <a:avLst/>
          </a:prstGeom>
          <a:noFill/>
          <a:ln w="571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defTabSz="342900"/>
            <a:endParaRPr lang="en-AU" sz="1350" dirty="0">
              <a:solidFill>
                <a:srgbClr val="C0504D"/>
              </a:solidFill>
              <a:latin typeface="Calibri"/>
            </a:endParaRPr>
          </a:p>
        </p:txBody>
      </p:sp>
      <p:sp>
        <p:nvSpPr>
          <p:cNvPr id="4" name="Rectangle: Single Corner Rounded 3">
            <a:extLst>
              <a:ext uri="{FF2B5EF4-FFF2-40B4-BE49-F238E27FC236}">
                <a16:creationId xmlns:a16="http://schemas.microsoft.com/office/drawing/2014/main" id="{E1B2AE04-DD37-2DB0-CAC0-3340B5001684}"/>
              </a:ext>
            </a:extLst>
          </p:cNvPr>
          <p:cNvSpPr/>
          <p:nvPr/>
        </p:nvSpPr>
        <p:spPr>
          <a:xfrm>
            <a:off x="4149066" y="3250688"/>
            <a:ext cx="422935" cy="217448"/>
          </a:xfrm>
          <a:prstGeom prst="round1Rect">
            <a:avLst/>
          </a:prstGeom>
          <a:noFill/>
          <a:ln w="571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defTabSz="342900"/>
            <a:endParaRPr lang="en-AU" sz="1350" dirty="0">
              <a:solidFill>
                <a:srgbClr val="C0504D"/>
              </a:solidFill>
              <a:latin typeface="Calibri"/>
            </a:endParaRPr>
          </a:p>
        </p:txBody>
      </p:sp>
      <p:sp>
        <p:nvSpPr>
          <p:cNvPr id="6" name="Rectangle: Single Corner Rounded 5">
            <a:extLst>
              <a:ext uri="{FF2B5EF4-FFF2-40B4-BE49-F238E27FC236}">
                <a16:creationId xmlns:a16="http://schemas.microsoft.com/office/drawing/2014/main" id="{81EBE8A1-5B7F-7032-DAA5-406850782FD1}"/>
              </a:ext>
            </a:extLst>
          </p:cNvPr>
          <p:cNvSpPr/>
          <p:nvPr/>
        </p:nvSpPr>
        <p:spPr>
          <a:xfrm>
            <a:off x="1889442" y="1593707"/>
            <a:ext cx="741217" cy="130493"/>
          </a:xfrm>
          <a:prstGeom prst="round1Rect">
            <a:avLst/>
          </a:prstGeom>
          <a:noFill/>
          <a:ln w="571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defTabSz="342900"/>
            <a:endParaRPr lang="en-AU" sz="1350" dirty="0">
              <a:solidFill>
                <a:srgbClr val="C0504D"/>
              </a:solidFill>
              <a:latin typeface="Calibri"/>
            </a:endParaRPr>
          </a:p>
        </p:txBody>
      </p:sp>
      <p:sp>
        <p:nvSpPr>
          <p:cNvPr id="10" name="Rectangle: Single Corner Rounded 9">
            <a:extLst>
              <a:ext uri="{FF2B5EF4-FFF2-40B4-BE49-F238E27FC236}">
                <a16:creationId xmlns:a16="http://schemas.microsoft.com/office/drawing/2014/main" id="{5C24B784-D759-FA56-11BD-657FCA5A654E}"/>
              </a:ext>
            </a:extLst>
          </p:cNvPr>
          <p:cNvSpPr/>
          <p:nvPr/>
        </p:nvSpPr>
        <p:spPr>
          <a:xfrm>
            <a:off x="1900422" y="1761979"/>
            <a:ext cx="1584849" cy="130493"/>
          </a:xfrm>
          <a:prstGeom prst="round1Rect">
            <a:avLst/>
          </a:prstGeom>
          <a:noFill/>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defTabSz="342900"/>
            <a:endParaRPr lang="en-AU" sz="1350" dirty="0">
              <a:solidFill>
                <a:srgbClr val="C0504D"/>
              </a:solidFill>
              <a:latin typeface="Calibri"/>
            </a:endParaRPr>
          </a:p>
        </p:txBody>
      </p:sp>
      <p:sp>
        <p:nvSpPr>
          <p:cNvPr id="14" name="Title 1">
            <a:extLst>
              <a:ext uri="{FF2B5EF4-FFF2-40B4-BE49-F238E27FC236}">
                <a16:creationId xmlns:a16="http://schemas.microsoft.com/office/drawing/2014/main" id="{65271DBF-E6FA-F662-ABEB-3E190938D8D3}"/>
              </a:ext>
            </a:extLst>
          </p:cNvPr>
          <p:cNvSpPr>
            <a:spLocks noGrp="1"/>
          </p:cNvSpPr>
          <p:nvPr>
            <p:ph type="title"/>
          </p:nvPr>
        </p:nvSpPr>
        <p:spPr>
          <a:xfrm>
            <a:off x="628650" y="273844"/>
            <a:ext cx="7886700" cy="730708"/>
          </a:xfrm>
        </p:spPr>
        <p:txBody>
          <a:bodyPr>
            <a:normAutofit/>
          </a:bodyPr>
          <a:lstStyle/>
          <a:p>
            <a:pPr algn="l"/>
            <a:r>
              <a:rPr lang="en-GB" sz="3000" b="1" dirty="0">
                <a:solidFill>
                  <a:srgbClr val="005EB8"/>
                </a:solidFill>
                <a:latin typeface="Arial" panose="020B0604020202020204" pitchFamily="34" charset="0"/>
                <a:cs typeface="Arial" panose="020B0604020202020204" pitchFamily="34" charset="0"/>
              </a:rPr>
              <a:t>Non-hierarchical Access Permissions</a:t>
            </a:r>
          </a:p>
        </p:txBody>
      </p:sp>
      <p:sp>
        <p:nvSpPr>
          <p:cNvPr id="2" name="Footer Placeholder 3">
            <a:extLst>
              <a:ext uri="{FF2B5EF4-FFF2-40B4-BE49-F238E27FC236}">
                <a16:creationId xmlns:a16="http://schemas.microsoft.com/office/drawing/2014/main" id="{BE2BCA05-248D-8B21-388D-A9428D9D077D}"/>
              </a:ext>
            </a:extLst>
          </p:cNvPr>
          <p:cNvSpPr txBox="1">
            <a:spLocks/>
          </p:cNvSpPr>
          <p:nvPr/>
        </p:nvSpPr>
        <p:spPr>
          <a:xfrm>
            <a:off x="628650" y="4767263"/>
            <a:ext cx="3086100" cy="27384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900" dirty="0">
                <a:solidFill>
                  <a:srgbClr val="005EB8"/>
                </a:solidFill>
                <a:latin typeface="Arial" panose="020B0604020202020204" pitchFamily="34" charset="0"/>
                <a:cs typeface="Arial" panose="020B0604020202020204" pitchFamily="34" charset="0"/>
              </a:rPr>
              <a:t>BSQ - Simplification Strategy</a:t>
            </a:r>
          </a:p>
        </p:txBody>
      </p:sp>
      <p:sp>
        <p:nvSpPr>
          <p:cNvPr id="11" name="Slide Number Placeholder 4">
            <a:extLst>
              <a:ext uri="{FF2B5EF4-FFF2-40B4-BE49-F238E27FC236}">
                <a16:creationId xmlns:a16="http://schemas.microsoft.com/office/drawing/2014/main" id="{7C5A8B5A-285C-2FB5-7B11-82D89F50C83B}"/>
              </a:ext>
            </a:extLst>
          </p:cNvPr>
          <p:cNvSpPr txBox="1">
            <a:spLocks/>
          </p:cNvSpPr>
          <p:nvPr/>
        </p:nvSpPr>
        <p:spPr>
          <a:xfrm>
            <a:off x="101009" y="4767263"/>
            <a:ext cx="417816" cy="27384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C75888C-CBC0-4624-9DF9-0508A40329AE}" type="slidenum">
              <a:rPr lang="en-AU" sz="900" smtClean="0">
                <a:solidFill>
                  <a:srgbClr val="005EB8"/>
                </a:solidFill>
                <a:latin typeface="Arial" panose="020B0604020202020204" pitchFamily="34" charset="0"/>
                <a:cs typeface="Arial" panose="020B0604020202020204" pitchFamily="34" charset="0"/>
              </a:rPr>
              <a:pPr/>
              <a:t>6</a:t>
            </a:fld>
            <a:endParaRPr lang="en-AU" sz="900" dirty="0">
              <a:solidFill>
                <a:srgbClr val="005EB8"/>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936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63006-2F02-9AF2-5EB2-4F6E811BC986}"/>
              </a:ext>
            </a:extLst>
          </p:cNvPr>
          <p:cNvSpPr>
            <a:spLocks noGrp="1"/>
          </p:cNvSpPr>
          <p:nvPr>
            <p:ph type="title"/>
          </p:nvPr>
        </p:nvSpPr>
        <p:spPr/>
        <p:txBody>
          <a:bodyPr>
            <a:normAutofit/>
          </a:bodyPr>
          <a:lstStyle/>
          <a:p>
            <a:r>
              <a:rPr lang="en-GB" sz="3000" b="1" dirty="0"/>
              <a:t>Case 2 –Scrollbars Vs UI Expansion</a:t>
            </a:r>
          </a:p>
        </p:txBody>
      </p:sp>
      <p:sp>
        <p:nvSpPr>
          <p:cNvPr id="3" name="Content Placeholder 2">
            <a:extLst>
              <a:ext uri="{FF2B5EF4-FFF2-40B4-BE49-F238E27FC236}">
                <a16:creationId xmlns:a16="http://schemas.microsoft.com/office/drawing/2014/main" id="{A72C1D59-3151-D521-0A28-8F2F8F234400}"/>
              </a:ext>
            </a:extLst>
          </p:cNvPr>
          <p:cNvSpPr>
            <a:spLocks noGrp="1"/>
          </p:cNvSpPr>
          <p:nvPr>
            <p:ph idx="1"/>
          </p:nvPr>
        </p:nvSpPr>
        <p:spPr/>
        <p:txBody>
          <a:bodyPr>
            <a:normAutofit fontScale="92500" lnSpcReduction="20000"/>
          </a:bodyPr>
          <a:lstStyle/>
          <a:p>
            <a:pPr marL="0" indent="0">
              <a:buNone/>
            </a:pPr>
            <a:r>
              <a:rPr lang="en-AU" sz="2400" b="1" dirty="0"/>
              <a:t>Current behaviour</a:t>
            </a:r>
            <a:endParaRPr lang="en-AU" sz="2400" dirty="0"/>
          </a:p>
          <a:p>
            <a:r>
              <a:rPr lang="en-AU" sz="2400" dirty="0"/>
              <a:t>Fixed Scrollbars Navigation</a:t>
            </a:r>
          </a:p>
          <a:p>
            <a:r>
              <a:rPr lang="en-AU" sz="2400" dirty="0"/>
              <a:t>Higher UI Effort and Unreliable Behaviour</a:t>
            </a:r>
          </a:p>
          <a:p>
            <a:r>
              <a:rPr lang="en-AU" sz="2400" dirty="0"/>
              <a:t>Increase in Development and Testing</a:t>
            </a:r>
          </a:p>
          <a:p>
            <a:pPr marL="0" indent="0">
              <a:buNone/>
            </a:pPr>
            <a:br>
              <a:rPr lang="en-AU" sz="2400" b="1" dirty="0"/>
            </a:br>
            <a:r>
              <a:rPr lang="en-AU" sz="2400" b="1" dirty="0"/>
              <a:t>Target State</a:t>
            </a:r>
            <a:endParaRPr lang="en-AU" sz="2400" dirty="0"/>
          </a:p>
          <a:p>
            <a:r>
              <a:rPr lang="en-AU" sz="2400" dirty="0"/>
              <a:t>Native APEX Field Expansion</a:t>
            </a:r>
          </a:p>
          <a:p>
            <a:r>
              <a:rPr lang="en-AU" sz="2400" dirty="0"/>
              <a:t>Responsive and Predictable UI Behaviour</a:t>
            </a:r>
          </a:p>
          <a:p>
            <a:r>
              <a:rPr lang="en-AU" sz="2400" dirty="0"/>
              <a:t>Lower Development and Support Overheads</a:t>
            </a:r>
          </a:p>
          <a:p>
            <a:endParaRPr lang="en-GB" dirty="0"/>
          </a:p>
        </p:txBody>
      </p:sp>
      <p:sp>
        <p:nvSpPr>
          <p:cNvPr id="4" name="Footer Placeholder 3">
            <a:extLst>
              <a:ext uri="{FF2B5EF4-FFF2-40B4-BE49-F238E27FC236}">
                <a16:creationId xmlns:a16="http://schemas.microsoft.com/office/drawing/2014/main" id="{34A5CDA9-B44E-4629-F7F7-B6D4A944D248}"/>
              </a:ext>
            </a:extLst>
          </p:cNvPr>
          <p:cNvSpPr>
            <a:spLocks noGrp="1"/>
          </p:cNvSpPr>
          <p:nvPr>
            <p:ph type="ftr" sz="quarter" idx="3"/>
          </p:nvPr>
        </p:nvSpPr>
        <p:spPr/>
        <p:txBody>
          <a:bodyPr/>
          <a:lstStyle/>
          <a:p>
            <a:r>
              <a:rPr lang="en-AU" dirty="0"/>
              <a:t>BSQ - Simplification Strategy</a:t>
            </a:r>
          </a:p>
        </p:txBody>
      </p:sp>
      <p:sp>
        <p:nvSpPr>
          <p:cNvPr id="5" name="Slide Number Placeholder 4">
            <a:extLst>
              <a:ext uri="{FF2B5EF4-FFF2-40B4-BE49-F238E27FC236}">
                <a16:creationId xmlns:a16="http://schemas.microsoft.com/office/drawing/2014/main" id="{BDE440A4-87E1-E5B9-BD04-EAB099D45579}"/>
              </a:ext>
            </a:extLst>
          </p:cNvPr>
          <p:cNvSpPr>
            <a:spLocks noGrp="1"/>
          </p:cNvSpPr>
          <p:nvPr>
            <p:ph type="sldNum" sz="quarter" idx="4"/>
          </p:nvPr>
        </p:nvSpPr>
        <p:spPr/>
        <p:txBody>
          <a:bodyPr/>
          <a:lstStyle/>
          <a:p>
            <a:fld id="{5C75888C-CBC0-4624-9DF9-0508A40329AE}" type="slidenum">
              <a:rPr lang="en-AU" smtClean="0"/>
              <a:pPr/>
              <a:t>7</a:t>
            </a:fld>
            <a:endParaRPr lang="en-AU" dirty="0"/>
          </a:p>
        </p:txBody>
      </p:sp>
    </p:spTree>
    <p:extLst>
      <p:ext uri="{BB962C8B-B14F-4D97-AF65-F5344CB8AC3E}">
        <p14:creationId xmlns:p14="http://schemas.microsoft.com/office/powerpoint/2010/main" val="768916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67408B4-2E53-79A3-4524-588C1F3EC265}"/>
              </a:ext>
            </a:extLst>
          </p:cNvPr>
          <p:cNvSpPr>
            <a:spLocks noGrp="1"/>
          </p:cNvSpPr>
          <p:nvPr>
            <p:ph type="ftr" sz="quarter" idx="3"/>
          </p:nvPr>
        </p:nvSpPr>
        <p:spPr/>
        <p:txBody>
          <a:bodyPr/>
          <a:lstStyle/>
          <a:p>
            <a:r>
              <a:rPr lang="en-AU" dirty="0"/>
              <a:t>BSQ - Simplification Strategy</a:t>
            </a:r>
          </a:p>
        </p:txBody>
      </p:sp>
      <p:sp>
        <p:nvSpPr>
          <p:cNvPr id="5" name="Slide Number Placeholder 4">
            <a:extLst>
              <a:ext uri="{FF2B5EF4-FFF2-40B4-BE49-F238E27FC236}">
                <a16:creationId xmlns:a16="http://schemas.microsoft.com/office/drawing/2014/main" id="{96446958-C89D-605D-7E34-84C447575C48}"/>
              </a:ext>
            </a:extLst>
          </p:cNvPr>
          <p:cNvSpPr>
            <a:spLocks noGrp="1"/>
          </p:cNvSpPr>
          <p:nvPr>
            <p:ph type="sldNum" sz="quarter" idx="4"/>
          </p:nvPr>
        </p:nvSpPr>
        <p:spPr/>
        <p:txBody>
          <a:bodyPr/>
          <a:lstStyle/>
          <a:p>
            <a:fld id="{5C75888C-CBC0-4624-9DF9-0508A40329AE}" type="slidenum">
              <a:rPr lang="en-AU" smtClean="0"/>
              <a:pPr/>
              <a:t>8</a:t>
            </a:fld>
            <a:endParaRPr lang="en-AU" dirty="0"/>
          </a:p>
        </p:txBody>
      </p:sp>
      <p:pic>
        <p:nvPicPr>
          <p:cNvPr id="6" name="Picture 5">
            <a:extLst>
              <a:ext uri="{FF2B5EF4-FFF2-40B4-BE49-F238E27FC236}">
                <a16:creationId xmlns:a16="http://schemas.microsoft.com/office/drawing/2014/main" id="{D42B7B15-E594-B380-9EBB-F32C8C8E192D}"/>
              </a:ext>
            </a:extLst>
          </p:cNvPr>
          <p:cNvPicPr>
            <a:picLocks noChangeAspect="1"/>
          </p:cNvPicPr>
          <p:nvPr/>
        </p:nvPicPr>
        <p:blipFill>
          <a:blip r:embed="rId3"/>
          <a:stretch>
            <a:fillRect/>
          </a:stretch>
        </p:blipFill>
        <p:spPr>
          <a:xfrm>
            <a:off x="1410731" y="154557"/>
            <a:ext cx="6150275" cy="4612706"/>
          </a:xfrm>
          <a:prstGeom prst="rect">
            <a:avLst/>
          </a:prstGeom>
        </p:spPr>
      </p:pic>
    </p:spTree>
    <p:extLst>
      <p:ext uri="{BB962C8B-B14F-4D97-AF65-F5344CB8AC3E}">
        <p14:creationId xmlns:p14="http://schemas.microsoft.com/office/powerpoint/2010/main" val="4197658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9809DAA-10A8-D883-C914-6BF45B9A240D}"/>
              </a:ext>
            </a:extLst>
          </p:cNvPr>
          <p:cNvPicPr>
            <a:picLocks noGrp="1" noChangeAspect="1"/>
          </p:cNvPicPr>
          <p:nvPr>
            <p:ph idx="1"/>
          </p:nvPr>
        </p:nvPicPr>
        <p:blipFill>
          <a:blip r:embed="rId3"/>
          <a:stretch>
            <a:fillRect/>
          </a:stretch>
        </p:blipFill>
        <p:spPr>
          <a:xfrm>
            <a:off x="1052052" y="267545"/>
            <a:ext cx="6096000" cy="4572001"/>
          </a:xfrm>
          <a:prstGeom prst="rect">
            <a:avLst/>
          </a:prstGeom>
        </p:spPr>
      </p:pic>
      <p:sp>
        <p:nvSpPr>
          <p:cNvPr id="4" name="Footer Placeholder 3">
            <a:extLst>
              <a:ext uri="{FF2B5EF4-FFF2-40B4-BE49-F238E27FC236}">
                <a16:creationId xmlns:a16="http://schemas.microsoft.com/office/drawing/2014/main" id="{5293CDA1-02DC-08A4-8B14-FFE7BC196D3F}"/>
              </a:ext>
            </a:extLst>
          </p:cNvPr>
          <p:cNvSpPr>
            <a:spLocks noGrp="1"/>
          </p:cNvSpPr>
          <p:nvPr>
            <p:ph type="ftr" sz="quarter" idx="3"/>
          </p:nvPr>
        </p:nvSpPr>
        <p:spPr/>
        <p:txBody>
          <a:bodyPr/>
          <a:lstStyle/>
          <a:p>
            <a:r>
              <a:rPr lang="en-AU" dirty="0"/>
              <a:t>BSQ - Simplification Strategy</a:t>
            </a:r>
          </a:p>
        </p:txBody>
      </p:sp>
      <p:sp>
        <p:nvSpPr>
          <p:cNvPr id="5" name="Slide Number Placeholder 4">
            <a:extLst>
              <a:ext uri="{FF2B5EF4-FFF2-40B4-BE49-F238E27FC236}">
                <a16:creationId xmlns:a16="http://schemas.microsoft.com/office/drawing/2014/main" id="{013B338B-E971-A6F2-157E-88E0E4EC7CCC}"/>
              </a:ext>
            </a:extLst>
          </p:cNvPr>
          <p:cNvSpPr>
            <a:spLocks noGrp="1"/>
          </p:cNvSpPr>
          <p:nvPr>
            <p:ph type="sldNum" sz="quarter" idx="4"/>
          </p:nvPr>
        </p:nvSpPr>
        <p:spPr/>
        <p:txBody>
          <a:bodyPr/>
          <a:lstStyle/>
          <a:p>
            <a:fld id="{5C75888C-CBC0-4624-9DF9-0508A40329AE}" type="slidenum">
              <a:rPr lang="en-AU" smtClean="0"/>
              <a:pPr/>
              <a:t>9</a:t>
            </a:fld>
            <a:endParaRPr lang="en-AU" dirty="0"/>
          </a:p>
        </p:txBody>
      </p:sp>
      <p:sp>
        <p:nvSpPr>
          <p:cNvPr id="2" name="Rectangle 1">
            <a:extLst>
              <a:ext uri="{FF2B5EF4-FFF2-40B4-BE49-F238E27FC236}">
                <a16:creationId xmlns:a16="http://schemas.microsoft.com/office/drawing/2014/main" id="{B9AC2949-2E0D-8A8E-D823-C623E9A66BE9}"/>
              </a:ext>
            </a:extLst>
          </p:cNvPr>
          <p:cNvSpPr/>
          <p:nvPr/>
        </p:nvSpPr>
        <p:spPr>
          <a:xfrm>
            <a:off x="7148052" y="65984"/>
            <a:ext cx="1886220" cy="22706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AU" dirty="0">
                <a:solidFill>
                  <a:schemeClr val="accent1"/>
                </a:solidFill>
              </a:rPr>
              <a:t>+ Scroll Down</a:t>
            </a:r>
          </a:p>
        </p:txBody>
      </p:sp>
      <p:pic>
        <p:nvPicPr>
          <p:cNvPr id="1028" name="Picture 4">
            <a:extLst>
              <a:ext uri="{FF2B5EF4-FFF2-40B4-BE49-F238E27FC236}">
                <a16:creationId xmlns:a16="http://schemas.microsoft.com/office/drawing/2014/main" id="{EAAD90EC-3D9B-2AFD-B286-15B9345381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8052" y="380409"/>
            <a:ext cx="1811238" cy="219134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DD3B6B9-C06F-BF8E-EF21-1EE44CF49363}"/>
              </a:ext>
            </a:extLst>
          </p:cNvPr>
          <p:cNvSpPr/>
          <p:nvPr/>
        </p:nvSpPr>
        <p:spPr>
          <a:xfrm>
            <a:off x="7064058" y="2717710"/>
            <a:ext cx="1970214" cy="22706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AU" dirty="0">
                <a:solidFill>
                  <a:schemeClr val="accent1"/>
                </a:solidFill>
              </a:rPr>
              <a:t>OR Extend Search</a:t>
            </a:r>
          </a:p>
        </p:txBody>
      </p:sp>
      <p:pic>
        <p:nvPicPr>
          <p:cNvPr id="1030" name="Picture 6">
            <a:extLst>
              <a:ext uri="{FF2B5EF4-FFF2-40B4-BE49-F238E27FC236}">
                <a16:creationId xmlns:a16="http://schemas.microsoft.com/office/drawing/2014/main" id="{F652FDD8-5535-CFA9-73C0-0043C64B23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4058" y="3077156"/>
            <a:ext cx="1895232" cy="1784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60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D7741-C95F-20F2-50FC-1ED901CDD7BC}"/>
              </a:ext>
            </a:extLst>
          </p:cNvPr>
          <p:cNvSpPr>
            <a:spLocks noGrp="1"/>
          </p:cNvSpPr>
          <p:nvPr>
            <p:ph type="title"/>
          </p:nvPr>
        </p:nvSpPr>
        <p:spPr>
          <a:xfrm>
            <a:off x="411480" y="273844"/>
            <a:ext cx="8394192" cy="730708"/>
          </a:xfrm>
        </p:spPr>
        <p:txBody>
          <a:bodyPr>
            <a:noAutofit/>
          </a:bodyPr>
          <a:lstStyle/>
          <a:p>
            <a:r>
              <a:rPr lang="en-GB" sz="3000" b="1" dirty="0"/>
              <a:t>Two Paths, with two very Differing Outcomes</a:t>
            </a:r>
            <a:endParaRPr lang="en-US" sz="3000" dirty="0"/>
          </a:p>
        </p:txBody>
      </p:sp>
      <p:sp>
        <p:nvSpPr>
          <p:cNvPr id="3" name="Content Placeholder 2">
            <a:extLst>
              <a:ext uri="{FF2B5EF4-FFF2-40B4-BE49-F238E27FC236}">
                <a16:creationId xmlns:a16="http://schemas.microsoft.com/office/drawing/2014/main" id="{CBC9A768-D18C-A73A-E46A-AA0C2A2AE299}"/>
              </a:ext>
            </a:extLst>
          </p:cNvPr>
          <p:cNvSpPr>
            <a:spLocks noGrp="1"/>
          </p:cNvSpPr>
          <p:nvPr>
            <p:ph idx="1"/>
          </p:nvPr>
        </p:nvSpPr>
        <p:spPr>
          <a:xfrm>
            <a:off x="411480" y="1369219"/>
            <a:ext cx="4016937" cy="3075190"/>
          </a:xfrm>
        </p:spPr>
        <p:txBody>
          <a:bodyPr>
            <a:normAutofit fontScale="92500"/>
          </a:bodyPr>
          <a:lstStyle/>
          <a:p>
            <a:r>
              <a:rPr lang="en-GB" sz="2200" b="1" dirty="0"/>
              <a:t>Path 1 – Rebuild Like-for-Like</a:t>
            </a:r>
          </a:p>
          <a:p>
            <a:r>
              <a:rPr lang="en-GB" sz="2200" dirty="0"/>
              <a:t>Exact replication of existing features and behaviours</a:t>
            </a:r>
          </a:p>
          <a:p>
            <a:r>
              <a:rPr lang="en-GB" sz="2200" dirty="0"/>
              <a:t>Legacy UI patterns preserved</a:t>
            </a:r>
          </a:p>
          <a:p>
            <a:r>
              <a:rPr lang="en-GB" sz="2200" dirty="0"/>
              <a:t>Business logic tightly coupled to the interface</a:t>
            </a:r>
          </a:p>
          <a:p>
            <a:r>
              <a:rPr lang="en-GB" sz="2200" dirty="0"/>
              <a:t>Inefficiencies and historical workarounds re-embedded</a:t>
            </a:r>
          </a:p>
          <a:p>
            <a:endParaRPr lang="en-US" dirty="0"/>
          </a:p>
        </p:txBody>
      </p:sp>
      <p:sp>
        <p:nvSpPr>
          <p:cNvPr id="4" name="Footer Placeholder 3">
            <a:extLst>
              <a:ext uri="{FF2B5EF4-FFF2-40B4-BE49-F238E27FC236}">
                <a16:creationId xmlns:a16="http://schemas.microsoft.com/office/drawing/2014/main" id="{76EC9711-EE07-66FB-A9EA-29A404B150B8}"/>
              </a:ext>
            </a:extLst>
          </p:cNvPr>
          <p:cNvSpPr>
            <a:spLocks noGrp="1"/>
          </p:cNvSpPr>
          <p:nvPr>
            <p:ph type="ftr" sz="quarter" idx="3"/>
          </p:nvPr>
        </p:nvSpPr>
        <p:spPr/>
        <p:txBody>
          <a:bodyPr/>
          <a:lstStyle/>
          <a:p>
            <a:r>
              <a:rPr lang="en-AU" dirty="0"/>
              <a:t>BSQ - Simplification Strategy</a:t>
            </a:r>
          </a:p>
        </p:txBody>
      </p:sp>
      <p:sp>
        <p:nvSpPr>
          <p:cNvPr id="5" name="Slide Number Placeholder 4">
            <a:extLst>
              <a:ext uri="{FF2B5EF4-FFF2-40B4-BE49-F238E27FC236}">
                <a16:creationId xmlns:a16="http://schemas.microsoft.com/office/drawing/2014/main" id="{491B5019-8948-021D-BA79-722C849BAAA4}"/>
              </a:ext>
            </a:extLst>
          </p:cNvPr>
          <p:cNvSpPr>
            <a:spLocks noGrp="1"/>
          </p:cNvSpPr>
          <p:nvPr>
            <p:ph type="sldNum" sz="quarter" idx="4"/>
          </p:nvPr>
        </p:nvSpPr>
        <p:spPr/>
        <p:txBody>
          <a:bodyPr/>
          <a:lstStyle/>
          <a:p>
            <a:fld id="{5C75888C-CBC0-4624-9DF9-0508A40329AE}" type="slidenum">
              <a:rPr lang="en-AU" smtClean="0"/>
              <a:pPr/>
              <a:t>10</a:t>
            </a:fld>
            <a:endParaRPr lang="en-AU" dirty="0"/>
          </a:p>
        </p:txBody>
      </p:sp>
      <p:sp>
        <p:nvSpPr>
          <p:cNvPr id="6" name="Content Placeholder 5">
            <a:extLst>
              <a:ext uri="{FF2B5EF4-FFF2-40B4-BE49-F238E27FC236}">
                <a16:creationId xmlns:a16="http://schemas.microsoft.com/office/drawing/2014/main" id="{95583580-AF31-9EA4-D598-49409E1D7509}"/>
              </a:ext>
            </a:extLst>
          </p:cNvPr>
          <p:cNvSpPr>
            <a:spLocks noGrp="1"/>
          </p:cNvSpPr>
          <p:nvPr>
            <p:ph idx="10"/>
          </p:nvPr>
        </p:nvSpPr>
        <p:spPr>
          <a:xfrm>
            <a:off x="4715585" y="1369219"/>
            <a:ext cx="4090087" cy="3075190"/>
          </a:xfrm>
        </p:spPr>
        <p:txBody>
          <a:bodyPr>
            <a:normAutofit fontScale="92500"/>
          </a:bodyPr>
          <a:lstStyle/>
          <a:p>
            <a:r>
              <a:rPr lang="en-GB" sz="2200" b="1" dirty="0"/>
              <a:t>Path 2 – API-Led Architecture</a:t>
            </a:r>
          </a:p>
          <a:p>
            <a:r>
              <a:rPr lang="en-GB" sz="2200" dirty="0"/>
              <a:t>Business logic abstracted into services</a:t>
            </a:r>
          </a:p>
          <a:p>
            <a:r>
              <a:rPr lang="en-GB" sz="2200" dirty="0"/>
              <a:t>APIs become the system contract</a:t>
            </a:r>
          </a:p>
          <a:p>
            <a:r>
              <a:rPr lang="en-GB" sz="2200" dirty="0"/>
              <a:t>UI becomes replaceable and responsive</a:t>
            </a:r>
          </a:p>
          <a:p>
            <a:r>
              <a:rPr lang="en-GB" sz="2200" dirty="0"/>
              <a:t>Supports simplification and standardisation</a:t>
            </a:r>
          </a:p>
          <a:p>
            <a:endParaRPr lang="en-US" dirty="0"/>
          </a:p>
        </p:txBody>
      </p:sp>
    </p:spTree>
    <p:extLst>
      <p:ext uri="{BB962C8B-B14F-4D97-AF65-F5344CB8AC3E}">
        <p14:creationId xmlns:p14="http://schemas.microsoft.com/office/powerpoint/2010/main" val="2766945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B1DD7-05DF-7782-A786-E8DBB03B7B4B}"/>
              </a:ext>
            </a:extLst>
          </p:cNvPr>
          <p:cNvSpPr>
            <a:spLocks noGrp="1"/>
          </p:cNvSpPr>
          <p:nvPr>
            <p:ph type="title"/>
          </p:nvPr>
        </p:nvSpPr>
        <p:spPr>
          <a:xfrm>
            <a:off x="628650" y="273844"/>
            <a:ext cx="8404032" cy="730708"/>
          </a:xfrm>
        </p:spPr>
        <p:txBody>
          <a:bodyPr>
            <a:noAutofit/>
          </a:bodyPr>
          <a:lstStyle/>
          <a:p>
            <a:r>
              <a:rPr lang="en-GB" sz="2900" b="1" dirty="0"/>
              <a:t>An API-Led Approach Provides (and Gives Up)</a:t>
            </a:r>
          </a:p>
        </p:txBody>
      </p:sp>
      <p:sp>
        <p:nvSpPr>
          <p:cNvPr id="3" name="Content Placeholder 2">
            <a:extLst>
              <a:ext uri="{FF2B5EF4-FFF2-40B4-BE49-F238E27FC236}">
                <a16:creationId xmlns:a16="http://schemas.microsoft.com/office/drawing/2014/main" id="{82C03050-AE54-D872-837B-663F18AD586F}"/>
              </a:ext>
            </a:extLst>
          </p:cNvPr>
          <p:cNvSpPr>
            <a:spLocks noGrp="1"/>
          </p:cNvSpPr>
          <p:nvPr>
            <p:ph idx="1"/>
          </p:nvPr>
        </p:nvSpPr>
        <p:spPr>
          <a:xfrm>
            <a:off x="628650" y="1090923"/>
            <a:ext cx="7886700" cy="3075190"/>
          </a:xfrm>
        </p:spPr>
        <p:txBody>
          <a:bodyPr>
            <a:noAutofit/>
          </a:bodyPr>
          <a:lstStyle/>
          <a:p>
            <a:pPr marL="0" indent="0">
              <a:buNone/>
            </a:pPr>
            <a:r>
              <a:rPr lang="en-GB" sz="1900" b="1" dirty="0"/>
              <a:t>An API approach enables</a:t>
            </a:r>
          </a:p>
          <a:p>
            <a:r>
              <a:rPr lang="en-GB" sz="1900" dirty="0"/>
              <a:t>Generic, reusable system functions</a:t>
            </a:r>
          </a:p>
          <a:p>
            <a:r>
              <a:rPr lang="en-GB" sz="1900" dirty="0"/>
              <a:t>Reduced dependency on system-specific knowledge</a:t>
            </a:r>
          </a:p>
          <a:p>
            <a:r>
              <a:rPr lang="en-GB" sz="1900" dirty="0"/>
              <a:t>Easier integration with 3</a:t>
            </a:r>
            <a:r>
              <a:rPr lang="en-GB" sz="1900" baseline="30000" dirty="0"/>
              <a:t>rd</a:t>
            </a:r>
            <a:r>
              <a:rPr lang="en-GB" sz="1900" dirty="0"/>
              <a:t> party enterprise platforms</a:t>
            </a:r>
          </a:p>
          <a:p>
            <a:pPr marL="0" indent="0">
              <a:buNone/>
            </a:pPr>
            <a:endParaRPr lang="en-GB" sz="1000" b="1" dirty="0"/>
          </a:p>
          <a:p>
            <a:pPr marL="0" indent="0">
              <a:buNone/>
            </a:pPr>
            <a:r>
              <a:rPr lang="en-GB" sz="1900" b="1" dirty="0"/>
              <a:t>It intentionally relinquishes</a:t>
            </a:r>
          </a:p>
          <a:p>
            <a:r>
              <a:rPr lang="en-GB" sz="1900" dirty="0"/>
              <a:t>Exact replication of legacy features</a:t>
            </a:r>
          </a:p>
          <a:p>
            <a:r>
              <a:rPr lang="en-GB" sz="1900" dirty="0"/>
              <a:t>Historical UI design conventions</a:t>
            </a:r>
          </a:p>
          <a:p>
            <a:r>
              <a:rPr lang="en-GB" sz="1900" dirty="0"/>
              <a:t>Custom behaviours that do not align with modern design principles</a:t>
            </a:r>
          </a:p>
        </p:txBody>
      </p:sp>
      <p:sp>
        <p:nvSpPr>
          <p:cNvPr id="4" name="Footer Placeholder 3">
            <a:extLst>
              <a:ext uri="{FF2B5EF4-FFF2-40B4-BE49-F238E27FC236}">
                <a16:creationId xmlns:a16="http://schemas.microsoft.com/office/drawing/2014/main" id="{123F3C75-74E0-50AF-243D-DEABDD41486F}"/>
              </a:ext>
            </a:extLst>
          </p:cNvPr>
          <p:cNvSpPr>
            <a:spLocks noGrp="1"/>
          </p:cNvSpPr>
          <p:nvPr>
            <p:ph type="ftr" sz="quarter" idx="3"/>
          </p:nvPr>
        </p:nvSpPr>
        <p:spPr/>
        <p:txBody>
          <a:bodyPr/>
          <a:lstStyle/>
          <a:p>
            <a:r>
              <a:rPr lang="en-AU" dirty="0"/>
              <a:t>BSQ - Simplification Strategy</a:t>
            </a:r>
          </a:p>
        </p:txBody>
      </p:sp>
      <p:sp>
        <p:nvSpPr>
          <p:cNvPr id="5" name="Slide Number Placeholder 4">
            <a:extLst>
              <a:ext uri="{FF2B5EF4-FFF2-40B4-BE49-F238E27FC236}">
                <a16:creationId xmlns:a16="http://schemas.microsoft.com/office/drawing/2014/main" id="{A45DE8DD-4C52-ABCB-8B8F-7CB9BDC22D39}"/>
              </a:ext>
            </a:extLst>
          </p:cNvPr>
          <p:cNvSpPr>
            <a:spLocks noGrp="1"/>
          </p:cNvSpPr>
          <p:nvPr>
            <p:ph type="sldNum" sz="quarter" idx="4"/>
          </p:nvPr>
        </p:nvSpPr>
        <p:spPr/>
        <p:txBody>
          <a:bodyPr/>
          <a:lstStyle/>
          <a:p>
            <a:fld id="{5C75888C-CBC0-4624-9DF9-0508A40329AE}" type="slidenum">
              <a:rPr lang="en-AU" smtClean="0"/>
              <a:pPr/>
              <a:t>11</a:t>
            </a:fld>
            <a:endParaRPr lang="en-AU" dirty="0"/>
          </a:p>
        </p:txBody>
      </p:sp>
    </p:spTree>
    <p:extLst>
      <p:ext uri="{BB962C8B-B14F-4D97-AF65-F5344CB8AC3E}">
        <p14:creationId xmlns:p14="http://schemas.microsoft.com/office/powerpoint/2010/main" val="835054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3BEF0-31D8-C01D-D329-7DA79B11ADBB}"/>
              </a:ext>
            </a:extLst>
          </p:cNvPr>
          <p:cNvSpPr>
            <a:spLocks noGrp="1"/>
          </p:cNvSpPr>
          <p:nvPr>
            <p:ph type="title"/>
          </p:nvPr>
        </p:nvSpPr>
        <p:spPr/>
        <p:txBody>
          <a:bodyPr>
            <a:noAutofit/>
          </a:bodyPr>
          <a:lstStyle/>
          <a:p>
            <a:r>
              <a:rPr lang="en-GB" sz="2900" b="1" dirty="0"/>
              <a:t>Recommended Direction &amp; Leadership Endorsement Required</a:t>
            </a:r>
          </a:p>
        </p:txBody>
      </p:sp>
      <p:sp>
        <p:nvSpPr>
          <p:cNvPr id="3" name="Content Placeholder 2">
            <a:extLst>
              <a:ext uri="{FF2B5EF4-FFF2-40B4-BE49-F238E27FC236}">
                <a16:creationId xmlns:a16="http://schemas.microsoft.com/office/drawing/2014/main" id="{F833094C-7105-754C-4BB6-1641D7BE135C}"/>
              </a:ext>
            </a:extLst>
          </p:cNvPr>
          <p:cNvSpPr>
            <a:spLocks noGrp="1"/>
          </p:cNvSpPr>
          <p:nvPr>
            <p:ph idx="1"/>
          </p:nvPr>
        </p:nvSpPr>
        <p:spPr>
          <a:xfrm>
            <a:off x="628650" y="1168051"/>
            <a:ext cx="8515350" cy="3075190"/>
          </a:xfrm>
        </p:spPr>
        <p:txBody>
          <a:bodyPr>
            <a:noAutofit/>
          </a:bodyPr>
          <a:lstStyle/>
          <a:p>
            <a:pPr marL="0" indent="0">
              <a:buNone/>
            </a:pPr>
            <a:r>
              <a:rPr lang="en-GB" sz="2200" b="1" dirty="0"/>
              <a:t>Recommended direction</a:t>
            </a:r>
            <a:endParaRPr lang="en-GB" sz="2200" dirty="0"/>
          </a:p>
          <a:p>
            <a:r>
              <a:rPr lang="en-GB" sz="2200" dirty="0"/>
              <a:t>Adopt an </a:t>
            </a:r>
            <a:r>
              <a:rPr lang="en-GB" sz="2200" b="1" dirty="0"/>
              <a:t>all-or-nothing </a:t>
            </a:r>
            <a:r>
              <a:rPr lang="en-GB" sz="2200" dirty="0"/>
              <a:t>API-led architecture &amp; interaction model</a:t>
            </a:r>
          </a:p>
          <a:p>
            <a:r>
              <a:rPr lang="en-GB" sz="2200" dirty="0"/>
              <a:t>Do not pursue exact feature replication</a:t>
            </a:r>
          </a:p>
          <a:p>
            <a:r>
              <a:rPr lang="en-GB" sz="2200" dirty="0"/>
              <a:t>Accept managed change in UI design principles</a:t>
            </a:r>
          </a:p>
          <a:p>
            <a:endParaRPr lang="en-GB" sz="500" dirty="0"/>
          </a:p>
          <a:p>
            <a:pPr marL="0" indent="0">
              <a:buNone/>
            </a:pPr>
            <a:r>
              <a:rPr lang="en-GB" sz="2200" b="1" dirty="0"/>
              <a:t>Leadership endorsement requested</a:t>
            </a:r>
            <a:endParaRPr lang="en-GB" sz="2200" dirty="0"/>
          </a:p>
          <a:p>
            <a:r>
              <a:rPr lang="en-GB" sz="2200" dirty="0"/>
              <a:t>Confirm API-led architecture as mandatory</a:t>
            </a:r>
          </a:p>
          <a:p>
            <a:r>
              <a:rPr lang="en-GB" sz="2200" dirty="0"/>
              <a:t>Endorse simplification over replication</a:t>
            </a:r>
          </a:p>
          <a:p>
            <a:r>
              <a:rPr lang="en-GB" sz="2200" dirty="0"/>
              <a:t>Accept change to reduce long-term risk</a:t>
            </a:r>
          </a:p>
        </p:txBody>
      </p:sp>
      <p:sp>
        <p:nvSpPr>
          <p:cNvPr id="4" name="Footer Placeholder 3">
            <a:extLst>
              <a:ext uri="{FF2B5EF4-FFF2-40B4-BE49-F238E27FC236}">
                <a16:creationId xmlns:a16="http://schemas.microsoft.com/office/drawing/2014/main" id="{2988BC52-5606-A2DF-9023-DDF6AE8D849C}"/>
              </a:ext>
            </a:extLst>
          </p:cNvPr>
          <p:cNvSpPr>
            <a:spLocks noGrp="1"/>
          </p:cNvSpPr>
          <p:nvPr>
            <p:ph type="ftr" sz="quarter" idx="3"/>
          </p:nvPr>
        </p:nvSpPr>
        <p:spPr/>
        <p:txBody>
          <a:bodyPr/>
          <a:lstStyle/>
          <a:p>
            <a:r>
              <a:rPr lang="en-AU" dirty="0"/>
              <a:t>BSQ - Simplification Strategy</a:t>
            </a:r>
          </a:p>
        </p:txBody>
      </p:sp>
      <p:sp>
        <p:nvSpPr>
          <p:cNvPr id="5" name="Slide Number Placeholder 4">
            <a:extLst>
              <a:ext uri="{FF2B5EF4-FFF2-40B4-BE49-F238E27FC236}">
                <a16:creationId xmlns:a16="http://schemas.microsoft.com/office/drawing/2014/main" id="{3058C470-1293-9F1F-1B03-147FF1EA8009}"/>
              </a:ext>
            </a:extLst>
          </p:cNvPr>
          <p:cNvSpPr>
            <a:spLocks noGrp="1"/>
          </p:cNvSpPr>
          <p:nvPr>
            <p:ph type="sldNum" sz="quarter" idx="4"/>
          </p:nvPr>
        </p:nvSpPr>
        <p:spPr/>
        <p:txBody>
          <a:bodyPr/>
          <a:lstStyle/>
          <a:p>
            <a:fld id="{5C75888C-CBC0-4624-9DF9-0508A40329AE}" type="slidenum">
              <a:rPr lang="en-AU" smtClean="0"/>
              <a:pPr/>
              <a:t>12</a:t>
            </a:fld>
            <a:endParaRPr lang="en-AU" dirty="0"/>
          </a:p>
        </p:txBody>
      </p:sp>
    </p:spTree>
    <p:extLst>
      <p:ext uri="{BB962C8B-B14F-4D97-AF65-F5344CB8AC3E}">
        <p14:creationId xmlns:p14="http://schemas.microsoft.com/office/powerpoint/2010/main" val="533377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B56C66-F7D0-36D0-C528-DC4A53EE39F3}"/>
              </a:ext>
            </a:extLst>
          </p:cNvPr>
          <p:cNvSpPr>
            <a:spLocks noGrp="1"/>
          </p:cNvSpPr>
          <p:nvPr>
            <p:ph type="body" idx="10"/>
          </p:nvPr>
        </p:nvSpPr>
        <p:spPr/>
        <p:txBody>
          <a:bodyPr/>
          <a:lstStyle/>
          <a:p>
            <a:r>
              <a:rPr lang="en-US" b="1" dirty="0"/>
              <a:t>Thank you.</a:t>
            </a:r>
          </a:p>
        </p:txBody>
      </p:sp>
      <p:sp>
        <p:nvSpPr>
          <p:cNvPr id="3" name="Title 2">
            <a:extLst>
              <a:ext uri="{FF2B5EF4-FFF2-40B4-BE49-F238E27FC236}">
                <a16:creationId xmlns:a16="http://schemas.microsoft.com/office/drawing/2014/main" id="{FA3E2189-9B0E-EB63-F294-FDA0FFEA46E5}"/>
              </a:ext>
            </a:extLst>
          </p:cNvPr>
          <p:cNvSpPr>
            <a:spLocks noGrp="1"/>
          </p:cNvSpPr>
          <p:nvPr>
            <p:ph type="ctrTitle"/>
          </p:nvPr>
        </p:nvSpPr>
        <p:spPr/>
        <p:txBody>
          <a:bodyPr>
            <a:normAutofit fontScale="90000"/>
          </a:bodyPr>
          <a:lstStyle/>
          <a:p>
            <a:r>
              <a:rPr lang="en-GB" i="1" dirty="0"/>
              <a:t>We can either design for familiarity today, or sustainability for the next decade — but not both!</a:t>
            </a:r>
            <a:endParaRPr lang="en-US" i="1" dirty="0"/>
          </a:p>
        </p:txBody>
      </p:sp>
    </p:spTree>
    <p:extLst>
      <p:ext uri="{BB962C8B-B14F-4D97-AF65-F5344CB8AC3E}">
        <p14:creationId xmlns:p14="http://schemas.microsoft.com/office/powerpoint/2010/main" val="1728706327"/>
      </p:ext>
    </p:extLst>
  </p:cSld>
  <p:clrMapOvr>
    <a:masterClrMapping/>
  </p:clrMapOvr>
</p:sld>
</file>

<file path=ppt/theme/theme1.xml><?xml version="1.0" encoding="utf-8"?>
<a:theme xmlns:a="http://schemas.openxmlformats.org/drawingml/2006/main" name="QGOV 2025 MS Theme">
  <a:themeElements>
    <a:clrScheme name="QGOV 2025">
      <a:dk1>
        <a:srgbClr val="005EB8"/>
      </a:dk1>
      <a:lt1>
        <a:sysClr val="window" lastClr="FFFFFF"/>
      </a:lt1>
      <a:dk2>
        <a:srgbClr val="05325F"/>
      </a:dk2>
      <a:lt2>
        <a:srgbClr val="E7E6E6"/>
      </a:lt2>
      <a:accent1>
        <a:srgbClr val="000000"/>
      </a:accent1>
      <a:accent2>
        <a:srgbClr val="ED7D31"/>
      </a:accent2>
      <a:accent3>
        <a:srgbClr val="A70240"/>
      </a:accent3>
      <a:accent4>
        <a:srgbClr val="FFC000"/>
      </a:accent4>
      <a:accent5>
        <a:srgbClr val="4472C4"/>
      </a:accent5>
      <a:accent6>
        <a:srgbClr val="70AD47"/>
      </a:accent6>
      <a:hlink>
        <a:srgbClr val="0563C1"/>
      </a:hlink>
      <a:folHlink>
        <a:srgbClr val="954F72"/>
      </a:folHlink>
    </a:clrScheme>
    <a:fontScheme name="QGOV - Noto Sans">
      <a:majorFont>
        <a:latin typeface="Noto Sans Black"/>
        <a:ea typeface=""/>
        <a:cs typeface=""/>
      </a:majorFont>
      <a:minorFont>
        <a:latin typeface="Noto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H PowerPoint August 2025" id="{FF0C8707-541F-994D-BE8F-22F13CCF46E9}" vid="{96F45CE6-0C78-F044-BE6F-2944B7064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45624441-df11-4972-b940-84743b8edd13">QREDJ4H4ZNCU-2137131871-1225089</_dlc_DocId>
    <_dlc_DocIdUrl xmlns="45624441-df11-4972-b940-84743b8edd13">
      <Url>https://dpcqld.sharepoint.com/sites/dpc-filestore1/_layouts/15/DocIdRedir.aspx?ID=QREDJ4H4ZNCU-2137131871-1225089</Url>
      <Description>QREDJ4H4ZNCU-2137131871-1225089</Description>
    </_dlc_DocIdUrl>
    <TaxCatchAll xmlns="45624441-df11-4972-b940-84743b8edd13" xsi:nil="true"/>
    <lcf76f155ced4ddcb4097134ff3c332f xmlns="05a03ac3-062e-4e77-aff9-6a8c9933ce22">
      <Terms xmlns="http://schemas.microsoft.com/office/infopath/2007/PartnerControls"/>
    </lcf76f155ced4ddcb4097134ff3c332f>
    <_Flow_SignoffStatus xmlns="05a03ac3-062e-4e77-aff9-6a8c9933ce22" xsi:nil="true"/>
    <Image xmlns="05a03ac3-062e-4e77-aff9-6a8c9933ce2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6201CF60958BE842A6593655C8578125" ma:contentTypeVersion="20" ma:contentTypeDescription="Create a new document." ma:contentTypeScope="" ma:versionID="a16a9cba7a6c0fafe0e937e768ffb787">
  <xsd:schema xmlns:xsd="http://www.w3.org/2001/XMLSchema" xmlns:xs="http://www.w3.org/2001/XMLSchema" xmlns:p="http://schemas.microsoft.com/office/2006/metadata/properties" xmlns:ns2="45624441-df11-4972-b940-84743b8edd13" xmlns:ns3="05a03ac3-062e-4e77-aff9-6a8c9933ce22" targetNamespace="http://schemas.microsoft.com/office/2006/metadata/properties" ma:root="true" ma:fieldsID="74383af6b75cfc187d9a9039ae7f3e49" ns2:_="" ns3:_="">
    <xsd:import namespace="45624441-df11-4972-b940-84743b8edd13"/>
    <xsd:import namespace="05a03ac3-062e-4e77-aff9-6a8c9933ce22"/>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3:MediaServiceOCR" minOccurs="0"/>
                <xsd:element ref="ns3:MediaServiceLocation" minOccurs="0"/>
                <xsd:element ref="ns3:MediaServiceAutoKeyPoints" minOccurs="0"/>
                <xsd:element ref="ns3:MediaServiceKeyPoints" minOccurs="0"/>
                <xsd:element ref="ns2:SharedWithUsers" minOccurs="0"/>
                <xsd:element ref="ns2:SharedWithDetails" minOccurs="0"/>
                <xsd:element ref="ns3:MediaLengthInSeconds" minOccurs="0"/>
                <xsd:element ref="ns3:_Flow_SignoffStatus" minOccurs="0"/>
                <xsd:element ref="ns3:lcf76f155ced4ddcb4097134ff3c332f" minOccurs="0"/>
                <xsd:element ref="ns2:TaxCatchAll" minOccurs="0"/>
                <xsd:element ref="ns3:MediaServiceObjectDetectorVersions" minOccurs="0"/>
                <xsd:element ref="ns3:MediaServiceSearchProperties" minOccurs="0"/>
                <xsd:element ref="ns3:Imag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624441-df11-4972-b940-84743b8edd13"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d699188-ea2f-4a78-95cc-11962598401d}" ma:internalName="TaxCatchAll" ma:showField="CatchAllData" ma:web="45624441-df11-4972-b940-84743b8edd1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5a03ac3-062e-4e77-aff9-6a8c9933ce22"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element name="_Flow_SignoffStatus" ma:index="24" nillable="true" ma:displayName="Sign-off status" ma:internalName="Sign_x002d_off_x0020_status">
      <xsd:simpleType>
        <xsd:restriction base="dms:Text"/>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0b879720-a610-4f30-a10e-48b90a9c409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Image" ma:index="30" nillable="true" ma:displayName="Image" ma:format="Thumbnail" ma:internalName="Imag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6432786-4879-41AB-B59C-AEC7ADFFA746}">
  <ds:schemaRefs>
    <ds:schemaRef ds:uri="http://purl.org/dc/elements/1.1/"/>
    <ds:schemaRef ds:uri="http://purl.org/dc/dcmitype/"/>
    <ds:schemaRef ds:uri="http://purl.org/dc/terms/"/>
    <ds:schemaRef ds:uri="05a03ac3-062e-4e77-aff9-6a8c9933ce22"/>
    <ds:schemaRef ds:uri="http://schemas.microsoft.com/office/2006/documentManagement/types"/>
    <ds:schemaRef ds:uri="45624441-df11-4972-b940-84743b8edd13"/>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95E65BCB-5DAA-419A-A316-2A71AFC5B160}">
  <ds:schemaRefs>
    <ds:schemaRef ds:uri="http://schemas.microsoft.com/sharepoint/v3/contenttype/forms"/>
  </ds:schemaRefs>
</ds:datastoreItem>
</file>

<file path=customXml/itemProps3.xml><?xml version="1.0" encoding="utf-8"?>
<ds:datastoreItem xmlns:ds="http://schemas.openxmlformats.org/officeDocument/2006/customXml" ds:itemID="{5513AF2B-C851-4396-B7F8-C05778862148}">
  <ds:schemaRefs>
    <ds:schemaRef ds:uri="http://schemas.microsoft.com/sharepoint/events"/>
  </ds:schemaRefs>
</ds:datastoreItem>
</file>

<file path=customXml/itemProps4.xml><?xml version="1.0" encoding="utf-8"?>
<ds:datastoreItem xmlns:ds="http://schemas.openxmlformats.org/officeDocument/2006/customXml" ds:itemID="{014E73F0-97F3-4500-B97D-86D2951EA5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624441-df11-4972-b940-84743b8edd13"/>
    <ds:schemaRef ds:uri="05a03ac3-062e-4e77-aff9-6a8c9933ce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QH PowerPoint  template (August 2025)</Template>
  <TotalTime>494</TotalTime>
  <Words>1402</Words>
  <Application>Microsoft Office PowerPoint</Application>
  <PresentationFormat>On-screen Show (16:9)</PresentationFormat>
  <Paragraphs>173</Paragraphs>
  <Slides>14</Slides>
  <Notes>13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Arial</vt:lpstr>
      <vt:lpstr>Calibri</vt:lpstr>
      <vt:lpstr>Wingdings</vt:lpstr>
      <vt:lpstr>QGOV 2025 MS Theme</vt:lpstr>
      <vt:lpstr>Office Theme</vt:lpstr>
      <vt:lpstr>Simplification Strategy</vt:lpstr>
      <vt:lpstr>Purpose and Needs</vt:lpstr>
      <vt:lpstr>Background and Understanding</vt:lpstr>
      <vt:lpstr>Current Over-Engineered State</vt:lpstr>
      <vt:lpstr>Today’s Operational Overheads</vt:lpstr>
      <vt:lpstr>Case 1 - Permissions &amp; Access Control</vt:lpstr>
      <vt:lpstr>Non-hierarchical Access Permissions</vt:lpstr>
      <vt:lpstr>Case 2 –Scrollbars Vs UI Expansion</vt:lpstr>
      <vt:lpstr>PowerPoint Presentation</vt:lpstr>
      <vt:lpstr>PowerPoint Presentation</vt:lpstr>
      <vt:lpstr>Two Paths, with two very Differing Outcomes</vt:lpstr>
      <vt:lpstr>An API-Led Approach Provides (and Gives Up)</vt:lpstr>
      <vt:lpstr>Recommended Direction &amp; Leadership Endorsement Required</vt:lpstr>
      <vt:lpstr>We can either design for familiarity today, or sustainability for the next decade — but not both!</vt:lpstr>
    </vt:vector>
  </TitlesOfParts>
  <Company>Queensland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James Reid</dc:creator>
  <cp:lastModifiedBy>David Gordon</cp:lastModifiedBy>
  <cp:revision>11</cp:revision>
  <cp:lastPrinted>2020-06-09T05:35:31Z</cp:lastPrinted>
  <dcterms:created xsi:type="dcterms:W3CDTF">2025-08-28T04:42:23Z</dcterms:created>
  <dcterms:modified xsi:type="dcterms:W3CDTF">2026-03-10T23:59:06Z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0x0101006201CF60958BE842A6593655C8578125</vt:lpwstr>
  </property>
  <property fmtid="{D5CDD505-2E9C-101B-9397-08002B2CF9AE}" pid="3" name="MediaServiceImageTags">
    <vt:lpwstr/>
  </property>
  <property fmtid="{D5CDD505-2E9C-101B-9397-08002B2CF9AE}" pid="4" name="_dlc_DocIdItemGuid">
    <vt:lpwstr>6f99644a-0e54-4ae1-a821-3aa10c53eaf2</vt:lpwstr>
  </property>
</Properties>
</file>